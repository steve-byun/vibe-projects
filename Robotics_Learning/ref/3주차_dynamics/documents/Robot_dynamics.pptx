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71" r:id="rId3"/>
    <p:sldId id="291" r:id="rId4"/>
    <p:sldId id="293" r:id="rId5"/>
    <p:sldId id="294" r:id="rId6"/>
    <p:sldId id="289" r:id="rId7"/>
    <p:sldId id="266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ot" initials="r" lastIdx="1" clrIdx="0">
    <p:extLst>
      <p:ext uri="{19B8F6BF-5375-455C-9EA6-DF929625EA0E}">
        <p15:presenceInfo xmlns:p15="http://schemas.microsoft.com/office/powerpoint/2012/main" userId="rob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1" autoAdjust="0"/>
    <p:restoredTop sz="74239" autoAdjust="0"/>
  </p:normalViewPr>
  <p:slideViewPr>
    <p:cSldViewPr snapToGrid="0">
      <p:cViewPr varScale="1">
        <p:scale>
          <a:sx n="70" d="100"/>
          <a:sy n="70" d="100"/>
        </p:scale>
        <p:origin x="67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6259A-4051-4682-9DFB-D810BA2C0E85}" type="datetimeFigureOut">
              <a:rPr lang="ko-KR" altLang="en-US" smtClean="0"/>
              <a:t>2023-11-24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A7749-7FF1-4233-B330-B5BE91383E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8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 Thank you for inviting me first.</a:t>
            </a:r>
          </a:p>
          <a:p>
            <a:r>
              <a:rPr lang="en-US" altLang="ko-KR" dirty="0"/>
              <a:t>I hope Hanwha and Schaeffler can help each other.</a:t>
            </a:r>
          </a:p>
          <a:p>
            <a:r>
              <a:rPr lang="en-US" altLang="ko-KR" dirty="0"/>
              <a:t>I will briefly introduce myself.</a:t>
            </a:r>
          </a:p>
          <a:p>
            <a:r>
              <a:rPr lang="en-US" altLang="ko-KR" dirty="0"/>
              <a:t>I am Bae Gang-</a:t>
            </a:r>
            <a:r>
              <a:rPr lang="en-US" altLang="ko-KR" dirty="0" err="1"/>
              <a:t>tae</a:t>
            </a:r>
            <a:r>
              <a:rPr lang="en-US" altLang="ko-KR" dirty="0"/>
              <a:t>, research engineer at Hanwha Precision Machinery Robot Division.</a:t>
            </a:r>
          </a:p>
          <a:p>
            <a:r>
              <a:rPr lang="en-US" altLang="ko-KR" dirty="0"/>
              <a:t>As you have seen at the last meeting in </a:t>
            </a:r>
            <a:r>
              <a:rPr lang="en-US" altLang="ko-KR" dirty="0" err="1"/>
              <a:t>korea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this is the leader engineer </a:t>
            </a:r>
            <a:r>
              <a:rPr lang="en-US" altLang="ko-KR" dirty="0" err="1"/>
              <a:t>Mr</a:t>
            </a:r>
            <a:r>
              <a:rPr lang="en-US" altLang="ko-KR" dirty="0"/>
              <a:t> lee in the algorithm part</a:t>
            </a:r>
          </a:p>
          <a:p>
            <a:endParaRPr lang="en-US" altLang="ko-KR" dirty="0"/>
          </a:p>
          <a:p>
            <a:r>
              <a:rPr lang="en-US" altLang="ko-KR" dirty="0"/>
              <a:t>Today we will go over what we need to worry about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75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appreciate for listening</a:t>
            </a:r>
            <a:endParaRPr lang="ko-KR" altLang="en-US" dirty="0"/>
          </a:p>
          <a:p>
            <a:r>
              <a:rPr lang="en-US" altLang="ko-KR" dirty="0"/>
              <a:t>Anything else question?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5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9C3D0B-4713-49DC-BCEA-A9FC879802B4}" type="datetimeFigureOut">
              <a:rPr lang="ko-KR" altLang="en-US" smtClean="0"/>
              <a:t>2023-11-24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34A41CF-331A-463F-8B91-7D686BCE03C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0" y="1"/>
            <a:ext cx="9144000" cy="6857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9" name="Picture 3" descr="마크컬러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02978" y="229518"/>
            <a:ext cx="1585481" cy="50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9"/>
          <p:cNvPicPr>
            <a:picLocks noChangeAspect="1" noChangeArrowheads="1"/>
          </p:cNvPicPr>
          <p:nvPr userDrawn="1"/>
        </p:nvPicPr>
        <p:blipFill>
          <a:blip r:embed="rId3"/>
          <a:srcRect l="48229" t="39221" r="13542" b="6407"/>
          <a:stretch>
            <a:fillRect/>
          </a:stretch>
        </p:blipFill>
        <p:spPr bwMode="auto">
          <a:xfrm>
            <a:off x="4140200" y="2544084"/>
            <a:ext cx="466090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110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8093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196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7240-CD16-42E9-9EA1-78AE035C52CF}" type="datetimeFigureOut">
              <a:rPr lang="ko-KR" altLang="en-US" smtClean="0"/>
              <a:t>2023-11-24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6F8D9-4148-439F-B8E5-DC67DA6FB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6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39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8818363" y="6604327"/>
            <a:ext cx="323808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890D3D4-E888-42C7-B0A0-6BABD1A7762D}" type="slidenum">
              <a:rPr lang="en-US" altLang="ko-KR" sz="900">
                <a:solidFill>
                  <a:srgbClr val="000000"/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82305"/>
            <a:ext cx="9144000" cy="0"/>
          </a:xfrm>
          <a:prstGeom prst="line">
            <a:avLst/>
          </a:prstGeom>
          <a:ln w="38100">
            <a:solidFill>
              <a:srgbClr val="F373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966732" y="180975"/>
            <a:ext cx="1177268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3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7901467" y="6604327"/>
            <a:ext cx="79188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</a:rPr>
              <a:t>Confidential</a:t>
            </a:r>
          </a:p>
        </p:txBody>
      </p:sp>
      <p:sp>
        <p:nvSpPr>
          <p:cNvPr id="12" name="Rectangle 13"/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8653438" y="6589813"/>
            <a:ext cx="20999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|</a:t>
            </a:r>
          </a:p>
        </p:txBody>
      </p:sp>
      <p:cxnSp>
        <p:nvCxnSpPr>
          <p:cNvPr id="13" name="직선 연결선 12"/>
          <p:cNvCxnSpPr/>
          <p:nvPr userDrawn="1"/>
        </p:nvCxnSpPr>
        <p:spPr bwMode="auto">
          <a:xfrm flipH="1">
            <a:off x="61546" y="6600810"/>
            <a:ext cx="85725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7539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 smtClean="0">
                <a:latin typeface="+mn-lt"/>
              </a:rPr>
              <a:t>Robot Dynamics</a:t>
            </a:r>
            <a:endParaRPr lang="ko-KR" alt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058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Newton Euler Method vs Lagrange Method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562456" y="4362632"/>
            <a:ext cx="2327625" cy="4140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 smtClean="0">
                <a:latin typeface="Calibri (본문)"/>
              </a:rPr>
              <a:t>Energy based method</a:t>
            </a:r>
            <a:endParaRPr lang="en-US" altLang="ko-KR" sz="1600" b="1" dirty="0">
              <a:latin typeface="Calibri (본문)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268212" y="4362632"/>
            <a:ext cx="2490554" cy="4140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b="1" dirty="0" smtClean="0">
                <a:latin typeface="Calibri (본문)"/>
              </a:rPr>
              <a:t>Moment based method</a:t>
            </a:r>
            <a:endParaRPr lang="en-US" altLang="ko-KR" sz="1600" b="1" dirty="0">
              <a:latin typeface="Calibri (본문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118346" y="766714"/>
                <a:ext cx="49051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Dynamic parameters of robot links for n </a:t>
                </a:r>
                <a:r>
                  <a:rPr lang="en-US" altLang="ko-KR" sz="1600" b="1" dirty="0" err="1" smtClean="0">
                    <a:latin typeface="Calibri (본문)"/>
                  </a:rPr>
                  <a:t>Dofs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46" y="766714"/>
                <a:ext cx="4905189" cy="461665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118346" y="3905557"/>
                <a:ext cx="20760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Dynamic torques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46" y="3905557"/>
                <a:ext cx="2076081" cy="461665"/>
              </a:xfrm>
              <a:prstGeom prst="rect">
                <a:avLst/>
              </a:prstGeom>
              <a:blipFill>
                <a:blip r:embed="rId3"/>
                <a:stretch>
                  <a:fillRect r="-587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/>
          <p:cNvCxnSpPr/>
          <p:nvPr/>
        </p:nvCxnSpPr>
        <p:spPr>
          <a:xfrm>
            <a:off x="4669643" y="4438507"/>
            <a:ext cx="0" cy="1895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rot="16200000">
            <a:off x="4701210" y="674753"/>
            <a:ext cx="0" cy="828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546" y="849923"/>
            <a:ext cx="2505502" cy="2322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22232" y="1249916"/>
                <a:ext cx="8512762" cy="2358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Mass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 smtClean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Center of mass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 smtClean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Inertia tensor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 smtClean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  - Positive definite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/>
                  <a:t> </a:t>
                </a:r>
                <a:r>
                  <a:rPr lang="en-US" altLang="ko-KR" sz="1600" dirty="0" smtClean="0"/>
                  <a:t> - Eigen vectors : principal axes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/>
                  <a:t> </a:t>
                </a:r>
                <a:r>
                  <a:rPr lang="en-US" altLang="ko-KR" sz="1600" dirty="0" smtClean="0"/>
                  <a:t> - Eigen values : principal moments of inertia</a:t>
                </a:r>
                <a:r>
                  <a:rPr lang="ko-KR" altLang="en-US" sz="1600" dirty="0" smtClean="0"/>
                  <a:t> </a:t>
                </a:r>
                <a:r>
                  <a:rPr lang="en-US" altLang="ko-KR" sz="1600" dirty="0" smtClean="0"/>
                  <a:t>&amp; satisfy triangular inequality (e.g.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600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600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600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altLang="ko-KR" sz="1600" dirty="0" smtClean="0"/>
                  <a:t>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32" y="1249916"/>
                <a:ext cx="8512762" cy="2358146"/>
              </a:xfrm>
              <a:prstGeom prst="rect">
                <a:avLst/>
              </a:prstGeom>
              <a:blipFill>
                <a:blip r:embed="rId5"/>
                <a:stretch>
                  <a:fillRect l="-358" b="-7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1178" y="5090487"/>
                <a:ext cx="296844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600" dirty="0" smtClean="0"/>
                  <a:t>Linear moment balance 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78" y="5090487"/>
                <a:ext cx="2968441" cy="246221"/>
              </a:xfrm>
              <a:prstGeom prst="rect">
                <a:avLst/>
              </a:prstGeom>
              <a:blipFill>
                <a:blip r:embed="rId6"/>
                <a:stretch>
                  <a:fillRect l="-4312" t="-170000" r="-411" b="-25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1177" y="5924863"/>
                <a:ext cx="394325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600" dirty="0" smtClean="0"/>
                  <a:t>Angular moment balance 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𝐼</m:t>
                    </m:r>
                    <m:acc>
                      <m:accPr>
                        <m:chr m:val="̇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77" y="5924863"/>
                <a:ext cx="3943259" cy="246221"/>
              </a:xfrm>
              <a:prstGeom prst="rect">
                <a:avLst/>
              </a:prstGeom>
              <a:blipFill>
                <a:blip r:embed="rId7"/>
                <a:stretch>
                  <a:fillRect l="-3251" t="-172500" r="-310" b="-25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81458" y="5094838"/>
                <a:ext cx="321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600" dirty="0" smtClean="0"/>
                  <a:t>Lagrangian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458" y="5094838"/>
                <a:ext cx="3214726" cy="246221"/>
              </a:xfrm>
              <a:prstGeom prst="rect">
                <a:avLst/>
              </a:prstGeom>
              <a:blipFill>
                <a:blip r:embed="rId8"/>
                <a:stretch>
                  <a:fillRect l="-3985" t="-27500" r="-1898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253367" y="5425724"/>
            <a:ext cx="116788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600" dirty="0" smtClean="0"/>
              <a:t>kinetic energy</a:t>
            </a:r>
            <a:endParaRPr lang="ko-KR" alt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7658256" y="5434802"/>
            <a:ext cx="13684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600" dirty="0" smtClean="0"/>
              <a:t>potential energy</a:t>
            </a:r>
            <a:endParaRPr lang="ko-KR" altLang="en-US" sz="1600" dirty="0"/>
          </a:p>
        </p:txBody>
      </p:sp>
      <p:cxnSp>
        <p:nvCxnSpPr>
          <p:cNvPr id="21" name="직선 화살표 연결선 20"/>
          <p:cNvCxnSpPr/>
          <p:nvPr/>
        </p:nvCxnSpPr>
        <p:spPr>
          <a:xfrm flipV="1">
            <a:off x="6847119" y="5283539"/>
            <a:ext cx="0" cy="202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7731039" y="5275919"/>
            <a:ext cx="0" cy="202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881458" y="5853464"/>
                <a:ext cx="3371051" cy="389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600" dirty="0" smtClean="0"/>
                  <a:t>Euler-Lagrange equation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̇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458" y="5853464"/>
                <a:ext cx="3371051" cy="389017"/>
              </a:xfrm>
              <a:prstGeom prst="rect">
                <a:avLst/>
              </a:prstGeom>
              <a:blipFill>
                <a:blip r:embed="rId9"/>
                <a:stretch>
                  <a:fillRect l="-3797" r="-723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/>
              <p:cNvSpPr/>
              <p:nvPr/>
            </p:nvSpPr>
            <p:spPr>
              <a:xfrm>
                <a:off x="3433921" y="2102309"/>
                <a:ext cx="109202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3" name="직사각형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921" y="2102309"/>
                <a:ext cx="1092029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45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Dynamics of a Rigid Body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/>
              <p:cNvSpPr/>
              <p:nvPr/>
            </p:nvSpPr>
            <p:spPr>
              <a:xfrm>
                <a:off x="623444" y="953350"/>
                <a:ext cx="23260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Equation of motion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8" name="직사각형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44" y="953350"/>
                <a:ext cx="2326086" cy="461665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/>
              <p:cNvSpPr/>
              <p:nvPr/>
            </p:nvSpPr>
            <p:spPr>
              <a:xfrm>
                <a:off x="623444" y="3396107"/>
                <a:ext cx="14178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Properties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9" name="직사각형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44" y="3396107"/>
                <a:ext cx="1417824" cy="461665"/>
              </a:xfrm>
              <a:prstGeom prst="rect">
                <a:avLst/>
              </a:prstGeom>
              <a:blipFill>
                <a:blip r:embed="rId3"/>
                <a:stretch>
                  <a:fillRect r="-858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71004" y="1655842"/>
                <a:ext cx="26576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04" y="1655842"/>
                <a:ext cx="2657651" cy="246221"/>
              </a:xfrm>
              <a:prstGeom prst="rect">
                <a:avLst/>
              </a:prstGeom>
              <a:blipFill>
                <a:blip r:embed="rId4"/>
                <a:stretch>
                  <a:fillRect l="-1147" t="-5000" r="-459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71004" y="3956412"/>
                <a:ext cx="3517694" cy="1119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𝑝𝑜𝑠𝑖𝑡𝑖𝑣𝑒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𝑑𝑒𝑓𝑖𝑛𝑖𝑡𝑒</m:t>
                      </m:r>
                    </m:oMath>
                  </m:oMathPara>
                </a14:m>
                <a:endParaRPr lang="en-US" altLang="ko-KR" sz="1600" b="0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̇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1600" dirty="0" smtClean="0"/>
                  <a:t>is skew-symmetric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̈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ko-KR" sz="160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04" y="3956412"/>
                <a:ext cx="3517694" cy="1119665"/>
              </a:xfrm>
              <a:prstGeom prst="rect">
                <a:avLst/>
              </a:prstGeom>
              <a:blipFill>
                <a:blip r:embed="rId5"/>
                <a:stretch>
                  <a:fillRect l="-19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/>
          <p:cNvCxnSpPr/>
          <p:nvPr/>
        </p:nvCxnSpPr>
        <p:spPr>
          <a:xfrm flipV="1">
            <a:off x="1332356" y="1896868"/>
            <a:ext cx="0" cy="377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2242402" y="1892509"/>
            <a:ext cx="0" cy="377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2952151" y="1879444"/>
            <a:ext cx="0" cy="377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37240" y="2291698"/>
            <a:ext cx="807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Inertial </a:t>
            </a:r>
          </a:p>
          <a:p>
            <a:r>
              <a:rPr lang="en-US" altLang="ko-KR" sz="1400" dirty="0" smtClean="0"/>
              <a:t>terms</a:t>
            </a:r>
            <a:endParaRPr lang="ko-KR" alt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720473" y="2287339"/>
            <a:ext cx="1043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Coriolis </a:t>
            </a:r>
          </a:p>
          <a:p>
            <a:r>
              <a:rPr lang="en-US" altLang="ko-KR" sz="1400" dirty="0" smtClean="0"/>
              <a:t>and Centrifugal terms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2567730" y="2293143"/>
            <a:ext cx="763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Gravity </a:t>
            </a:r>
          </a:p>
          <a:p>
            <a:r>
              <a:rPr lang="en-US" altLang="ko-KR" sz="1400" dirty="0" smtClean="0"/>
              <a:t>terms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/>
              <p:cNvSpPr/>
              <p:nvPr/>
            </p:nvSpPr>
            <p:spPr>
              <a:xfrm>
                <a:off x="5148721" y="4614412"/>
                <a:ext cx="31286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, where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̈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d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∅∈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8" name="직사각형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721" y="4614412"/>
                <a:ext cx="3128613" cy="461665"/>
              </a:xfrm>
              <a:prstGeom prst="rect">
                <a:avLst/>
              </a:prstGeom>
              <a:blipFill>
                <a:blip r:embed="rId6"/>
                <a:stretch>
                  <a:fillRect l="-1170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/>
              <p:cNvSpPr/>
              <p:nvPr/>
            </p:nvSpPr>
            <p:spPr>
              <a:xfrm>
                <a:off x="3990007" y="1498628"/>
                <a:ext cx="3447675" cy="4228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d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20" name="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007" y="1498628"/>
                <a:ext cx="3447675" cy="422808"/>
              </a:xfrm>
              <a:prstGeom prst="rect">
                <a:avLst/>
              </a:prstGeom>
              <a:blipFill>
                <a:blip r:embed="rId7"/>
                <a:stretch>
                  <a:fillRect l="-1062" b="-188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53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Project 2</a:t>
            </a:r>
            <a:endParaRPr lang="ko-KR" altLang="en-US" dirty="0">
              <a:latin typeface="+mn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0" y="816530"/>
            <a:ext cx="8092314" cy="33613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7977" y="4404950"/>
            <a:ext cx="7437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Procedure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 smtClean="0"/>
              <a:t>Exiting trajectory for identification (position, velocity, acceleration)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 smtClean="0"/>
              <a:t>Compute the inverse dynamic torques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 smtClean="0"/>
              <a:t>Obtaining estimates of dynamic coefficients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3292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ko-KR" altLang="en-US" dirty="0" smtClean="0">
                <a:latin typeface="+mn-lt"/>
              </a:rPr>
              <a:t>별첨</a:t>
            </a:r>
            <a:r>
              <a:rPr lang="en-US" altLang="ko-KR" dirty="0" smtClean="0">
                <a:latin typeface="+mn-lt"/>
              </a:rPr>
              <a:t>. Dynamic Parameters Identification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/>
              <p:cNvSpPr/>
              <p:nvPr/>
            </p:nvSpPr>
            <p:spPr>
              <a:xfrm>
                <a:off x="403593" y="1664049"/>
                <a:ext cx="46215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Identification of dynamic </a:t>
                </a:r>
                <a:r>
                  <a:rPr lang="en-US" altLang="ko-KR" sz="1600" b="1" dirty="0">
                    <a:latin typeface="Calibri (본문)"/>
                  </a:rPr>
                  <a:t>coefficients </a:t>
                </a:r>
                <a:r>
                  <a:rPr lang="en-US" altLang="ko-KR" sz="1600" b="1" dirty="0" smtClean="0">
                    <a:latin typeface="Calibri (본문)"/>
                  </a:rPr>
                  <a:t>([</a:t>
                </a:r>
                <a:r>
                  <a:rPr lang="en-US" altLang="ko-KR" sz="1600" b="1" dirty="0">
                    <a:latin typeface="Calibri (본문)"/>
                  </a:rPr>
                  <a:t>4</a:t>
                </a:r>
                <a:r>
                  <a:rPr lang="en-US" altLang="ko-KR" sz="1600" b="1" dirty="0" smtClean="0">
                    <a:latin typeface="Calibri (본문)"/>
                  </a:rPr>
                  <a:t>])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3" y="1664049"/>
                <a:ext cx="4621586" cy="461665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/>
              <p:cNvSpPr/>
              <p:nvPr/>
            </p:nvSpPr>
            <p:spPr>
              <a:xfrm>
                <a:off x="403593" y="4024536"/>
                <a:ext cx="40125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Including an additional </a:t>
                </a:r>
                <a:r>
                  <a:rPr lang="en-US" altLang="ko-KR" sz="1600" b="1" dirty="0">
                    <a:latin typeface="Calibri (본문)"/>
                  </a:rPr>
                  <a:t>payload </a:t>
                </a:r>
                <a:r>
                  <a:rPr lang="en-US" altLang="ko-KR" sz="1600" b="1" dirty="0" smtClean="0">
                    <a:latin typeface="Calibri (본문)"/>
                  </a:rPr>
                  <a:t>([5])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9" name="직사각형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3" y="4024536"/>
                <a:ext cx="4012573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직사각형 19"/>
              <p:cNvSpPr/>
              <p:nvPr/>
            </p:nvSpPr>
            <p:spPr>
              <a:xfrm>
                <a:off x="403593" y="780767"/>
                <a:ext cx="4961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Linear parametrization of dynamic </a:t>
                </a:r>
                <a:r>
                  <a:rPr lang="en-US" altLang="ko-KR" sz="1600" b="1" dirty="0" smtClean="0">
                    <a:latin typeface="Calibri (본문)"/>
                  </a:rPr>
                  <a:t>model ([6])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20" name="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3" y="780767"/>
                <a:ext cx="4961295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49640" y="4495927"/>
                <a:ext cx="638297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600" b="0" dirty="0" smtClean="0"/>
                  <a:t>Mass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ko-KR" sz="1600" dirty="0" smtClean="0"/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600" dirty="0" smtClean="0"/>
                  <a:t>Center of mass :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𝑛𝑖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ko-KR" sz="1600" dirty="0" smtClean="0"/>
                  <a:t>, where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sz="1600" dirty="0" smtClean="0"/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600" dirty="0" smtClean="0"/>
                  <a:t>Inertia tensor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40" y="4495927"/>
                <a:ext cx="6382977" cy="1107996"/>
              </a:xfrm>
              <a:prstGeom prst="rect">
                <a:avLst/>
              </a:prstGeom>
              <a:blipFill>
                <a:blip r:embed="rId5"/>
                <a:stretch>
                  <a:fillRect l="-2006" b="-7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5452" y="2129409"/>
                <a:ext cx="2000869" cy="336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(∅)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ko-KR" sz="1600" b="0" dirty="0" smtClean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52" y="2129409"/>
                <a:ext cx="2000869" cy="336759"/>
              </a:xfrm>
              <a:prstGeom prst="rect">
                <a:avLst/>
              </a:prstGeom>
              <a:blipFill>
                <a:blip r:embed="rId6"/>
                <a:stretch>
                  <a:fillRect l="-1829" r="-8841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5451" y="2613409"/>
                <a:ext cx="5251840" cy="1306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𝑢𝑏𝑗𝑒𝑐𝑡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ko-KR" sz="1600" b="0" dirty="0" smtClean="0"/>
              </a:p>
              <a:p>
                <a:pPr lvl="2"/>
                <a:r>
                  <a:rPr lang="en-US" altLang="ko-KR" sz="1600" b="0" dirty="0" smtClean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𝑖𝑥𝑥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𝑖𝑥𝑦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𝑖𝑥𝑧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𝑖𝑥𝑦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𝑖𝑦𝑦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𝑖𝑦𝑧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𝑖𝑥𝑧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𝑖𝑦𝑧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≻0</m:t>
                    </m:r>
                  </m:oMath>
                </a14:m>
                <a:endParaRPr lang="en-US" altLang="ko-KR" sz="1600" b="0" dirty="0" smtClean="0"/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, 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sz="1600" b="0" dirty="0" smtClean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51" y="2613409"/>
                <a:ext cx="5251840" cy="1306961"/>
              </a:xfrm>
              <a:prstGeom prst="rect">
                <a:avLst/>
              </a:prstGeom>
              <a:blipFill>
                <a:blip r:embed="rId7"/>
                <a:stretch>
                  <a:fillRect l="-928" r="-2900" b="-37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722515" y="1158841"/>
                <a:ext cx="37023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̈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15" y="1158841"/>
                <a:ext cx="370236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835451" y="5639049"/>
                <a:ext cx="7578357" cy="9039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ko-KR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(∅)</m:t>
                        </m:r>
                      </m:e>
                    </m:fun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  <m: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1600" dirty="0" smtClean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𝐿𝑖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𝑦𝑧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𝑥𝑧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𝑦𝑧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51" y="5639049"/>
                <a:ext cx="7578357" cy="9039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22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References</a:t>
            </a:r>
            <a:endParaRPr lang="ko-KR" altLang="en-US" dirty="0">
              <a:latin typeface="+mn-lt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98764" y="1097248"/>
            <a:ext cx="788877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altLang="ko-KR" sz="1600" dirty="0"/>
              <a:t>De Luca, A. (2023). </a:t>
            </a:r>
            <a:r>
              <a:rPr lang="en-US" altLang="ko-KR" sz="1600" dirty="0" smtClean="0"/>
              <a:t>Robotics2 Introduction </a:t>
            </a:r>
            <a:r>
              <a:rPr lang="en-US" altLang="ko-KR" sz="1600" dirty="0"/>
              <a:t>to Robotics-Lecture </a:t>
            </a:r>
            <a:r>
              <a:rPr lang="en-US" altLang="ko-KR" sz="1600" dirty="0" smtClean="0"/>
              <a:t>03-05: Dynamic model of robots : </a:t>
            </a:r>
            <a:r>
              <a:rPr lang="en-US" altLang="ko-KR" sz="1600" dirty="0" err="1" smtClean="0"/>
              <a:t>Lagrangian</a:t>
            </a:r>
            <a:r>
              <a:rPr lang="en-US" altLang="ko-KR" sz="1600" dirty="0" smtClean="0"/>
              <a:t> approach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 smtClean="0">
              <a:solidFill>
                <a:srgbClr val="333333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sz="1600" dirty="0"/>
              <a:t>De Luca, A. (2023). </a:t>
            </a:r>
            <a:r>
              <a:rPr lang="en-US" altLang="ko-KR" sz="1600" dirty="0" smtClean="0"/>
              <a:t>Robotics2 Introduction </a:t>
            </a:r>
            <a:r>
              <a:rPr lang="en-US" altLang="ko-KR" sz="1600" dirty="0"/>
              <a:t>to Robotics-Lecture 05b: Linear parametrization and identification of robot dynamics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/>
              <a:t>De Luca, A. (2023). </a:t>
            </a:r>
            <a:r>
              <a:rPr lang="en-US" altLang="ko-KR" sz="1600" dirty="0" smtClean="0"/>
              <a:t>Robotics2 Introduction </a:t>
            </a:r>
            <a:r>
              <a:rPr lang="en-US" altLang="ko-KR" sz="1600" dirty="0"/>
              <a:t>to Robotics-Lecture </a:t>
            </a:r>
            <a:r>
              <a:rPr lang="en-US" altLang="ko-KR" sz="1600" dirty="0" smtClean="0"/>
              <a:t>06: Dynamic model of robots : Newton-Euler approach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 err="1"/>
              <a:t>Gaz</a:t>
            </a:r>
            <a:r>
              <a:rPr lang="en-US" altLang="ko-KR" sz="1600" dirty="0"/>
              <a:t>, C., </a:t>
            </a:r>
            <a:r>
              <a:rPr lang="en-US" altLang="ko-KR" sz="1600" dirty="0" err="1"/>
              <a:t>Cognetti</a:t>
            </a:r>
            <a:r>
              <a:rPr lang="en-US" altLang="ko-KR" sz="1600" dirty="0"/>
              <a:t>, M., Oliva, A., Giordano, P. R., &amp; De Luca, A. (2019). Dynamic identification of the </a:t>
            </a:r>
            <a:r>
              <a:rPr lang="en-US" altLang="ko-KR" sz="1600" dirty="0" err="1"/>
              <a:t>franka</a:t>
            </a:r>
            <a:r>
              <a:rPr lang="en-US" altLang="ko-KR" sz="1600" dirty="0"/>
              <a:t> </a:t>
            </a:r>
            <a:r>
              <a:rPr lang="en-US" altLang="ko-KR" sz="1600" dirty="0" err="1"/>
              <a:t>emika</a:t>
            </a:r>
            <a:r>
              <a:rPr lang="en-US" altLang="ko-KR" sz="1600" dirty="0"/>
              <a:t> panda robot with retrieval of feasible parameters using penalty-based optimization. </a:t>
            </a:r>
            <a:r>
              <a:rPr lang="en-US" altLang="ko-KR" sz="1600" i="1" dirty="0"/>
              <a:t>IEEE Robotics and Automation Letters</a:t>
            </a:r>
            <a:r>
              <a:rPr lang="en-US" altLang="ko-KR" sz="1600" dirty="0"/>
              <a:t>, </a:t>
            </a:r>
            <a:r>
              <a:rPr lang="en-US" altLang="ko-KR" sz="1600" i="1" dirty="0"/>
              <a:t>4</a:t>
            </a:r>
            <a:r>
              <a:rPr lang="en-US" altLang="ko-KR" sz="1600" dirty="0"/>
              <a:t>(4), 4147-4154</a:t>
            </a:r>
            <a:r>
              <a:rPr lang="en-US" altLang="ko-KR" sz="1600" dirty="0" smtClean="0"/>
              <a:t>.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 err="1"/>
              <a:t>Gaz</a:t>
            </a:r>
            <a:r>
              <a:rPr lang="en-US" altLang="ko-KR" sz="1600" dirty="0"/>
              <a:t>, C., &amp; De Luca, A. (2017, September). Payload estimation based on identified coefficients of robot dynamics—With an application to collision detection. In </a:t>
            </a:r>
            <a:r>
              <a:rPr lang="en-US" altLang="ko-KR" sz="1600" i="1" dirty="0"/>
              <a:t>2017 IEEE/RSJ International Conference on Intelligent Robots and Systems (IROS)</a:t>
            </a:r>
            <a:r>
              <a:rPr lang="en-US" altLang="ko-KR" sz="1600" dirty="0"/>
              <a:t> (pp. 3033-3040). IEEE</a:t>
            </a:r>
            <a:r>
              <a:rPr lang="en-US" altLang="ko-KR" sz="1600" dirty="0" smtClean="0"/>
              <a:t>.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 err="1"/>
              <a:t>Gabiccini</a:t>
            </a:r>
            <a:r>
              <a:rPr lang="en-US" altLang="ko-KR" sz="1600" dirty="0"/>
              <a:t>, M., </a:t>
            </a:r>
            <a:r>
              <a:rPr lang="en-US" altLang="ko-KR" sz="1600" dirty="0" err="1"/>
              <a:t>Bracci</a:t>
            </a:r>
            <a:r>
              <a:rPr lang="en-US" altLang="ko-KR" sz="1600" dirty="0"/>
              <a:t>, A., De Carli, D., </a:t>
            </a:r>
            <a:r>
              <a:rPr lang="en-US" altLang="ko-KR" sz="1600" dirty="0" err="1"/>
              <a:t>Fredianelli</a:t>
            </a:r>
            <a:r>
              <a:rPr lang="en-US" altLang="ko-KR" sz="1600" dirty="0"/>
              <a:t>, M., &amp; </a:t>
            </a:r>
            <a:r>
              <a:rPr lang="en-US" altLang="ko-KR" sz="1600" dirty="0" err="1"/>
              <a:t>Bicchi</a:t>
            </a:r>
            <a:r>
              <a:rPr lang="en-US" altLang="ko-KR" sz="1600" dirty="0"/>
              <a:t>, A. (2009, September). Explicit </a:t>
            </a:r>
            <a:r>
              <a:rPr lang="en-US" altLang="ko-KR" sz="1600" dirty="0" err="1"/>
              <a:t>Lagrangian</a:t>
            </a:r>
            <a:r>
              <a:rPr lang="en-US" altLang="ko-KR" sz="1600" dirty="0"/>
              <a:t> formulation of the dynamic </a:t>
            </a:r>
            <a:r>
              <a:rPr lang="en-US" altLang="ko-KR" sz="1600" dirty="0" err="1"/>
              <a:t>regressors</a:t>
            </a:r>
            <a:r>
              <a:rPr lang="en-US" altLang="ko-KR" sz="1600" dirty="0"/>
              <a:t> for serial manipulators. In </a:t>
            </a:r>
            <a:r>
              <a:rPr lang="en-US" altLang="ko-KR" sz="1600" i="1" dirty="0"/>
              <a:t>Proceedings of the XIX </a:t>
            </a:r>
            <a:r>
              <a:rPr lang="en-US" altLang="ko-KR" sz="1600" i="1" dirty="0" err="1"/>
              <a:t>Aimeta</a:t>
            </a:r>
            <a:r>
              <a:rPr lang="en-US" altLang="ko-KR" sz="1600" i="1" dirty="0"/>
              <a:t> Congress, Ancona, Italy</a:t>
            </a:r>
            <a:r>
              <a:rPr lang="en-US" altLang="ko-KR" sz="1600" dirty="0"/>
              <a:t> (pp. 14-17).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249181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2EE3E3-BD0C-4EF5-814D-31BB02E1C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32" y="1382422"/>
            <a:ext cx="7772400" cy="2387600"/>
          </a:xfrm>
        </p:spPr>
        <p:txBody>
          <a:bodyPr/>
          <a:lstStyle/>
          <a:p>
            <a:r>
              <a:rPr lang="en-US" altLang="ko-KR" sz="7200" dirty="0">
                <a:latin typeface="+mn-lt"/>
              </a:rPr>
              <a:t>Thank you</a:t>
            </a:r>
            <a:endParaRPr lang="ko-KR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303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12844</TotalTime>
  <Words>339</Words>
  <Application>Microsoft Office PowerPoint</Application>
  <PresentationFormat>화면 슬라이드 쇼(4:3)</PresentationFormat>
  <Paragraphs>77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Calibri (본문)</vt:lpstr>
      <vt:lpstr>맑은 고딕</vt:lpstr>
      <vt:lpstr>Arial</vt:lpstr>
      <vt:lpstr>Calibri</vt:lpstr>
      <vt:lpstr>Cambria Math</vt:lpstr>
      <vt:lpstr>Times New Roman</vt:lpstr>
      <vt:lpstr>Office 테마</vt:lpstr>
      <vt:lpstr>Robot Dynamics</vt:lpstr>
      <vt:lpstr>Newton Euler Method vs Lagrange Method</vt:lpstr>
      <vt:lpstr>Dynamics of a Rigid Body</vt:lpstr>
      <vt:lpstr>Project 2</vt:lpstr>
      <vt:lpstr>별첨. Dynamic Parameters Identification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Geniuschw_송창우</dc:creator>
  <cp:lastModifiedBy>HANHWA</cp:lastModifiedBy>
  <cp:revision>446</cp:revision>
  <dcterms:created xsi:type="dcterms:W3CDTF">2017-03-09T08:42:38Z</dcterms:created>
  <dcterms:modified xsi:type="dcterms:W3CDTF">2023-11-24T04:50:45Z</dcterms:modified>
</cp:coreProperties>
</file>