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71" r:id="rId3"/>
    <p:sldId id="291" r:id="rId4"/>
    <p:sldId id="292" r:id="rId5"/>
    <p:sldId id="284" r:id="rId6"/>
    <p:sldId id="293" r:id="rId7"/>
    <p:sldId id="294" r:id="rId8"/>
    <p:sldId id="289" r:id="rId9"/>
    <p:sldId id="266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ot" initials="r" lastIdx="1" clrIdx="0">
    <p:extLst>
      <p:ext uri="{19B8F6BF-5375-455C-9EA6-DF929625EA0E}">
        <p15:presenceInfo xmlns:p15="http://schemas.microsoft.com/office/powerpoint/2012/main" userId="robo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5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81" autoAdjust="0"/>
    <p:restoredTop sz="74239" autoAdjust="0"/>
  </p:normalViewPr>
  <p:slideViewPr>
    <p:cSldViewPr snapToGrid="0">
      <p:cViewPr varScale="1">
        <p:scale>
          <a:sx n="88" d="100"/>
          <a:sy n="88" d="100"/>
        </p:scale>
        <p:origin x="14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6259A-4051-4682-9DFB-D810BA2C0E85}" type="datetimeFigureOut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A7749-7FF1-4233-B330-B5BE91383E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88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Hello Thank you for inviting me first.</a:t>
            </a:r>
          </a:p>
          <a:p>
            <a:r>
              <a:rPr lang="en-US" altLang="ko-KR" dirty="0"/>
              <a:t>I hope Hanwha and Schaeffler can help each other.</a:t>
            </a:r>
          </a:p>
          <a:p>
            <a:r>
              <a:rPr lang="en-US" altLang="ko-KR" dirty="0"/>
              <a:t>I will briefly introduce myself.</a:t>
            </a:r>
          </a:p>
          <a:p>
            <a:r>
              <a:rPr lang="en-US" altLang="ko-KR" dirty="0"/>
              <a:t>I am Bae Gang-</a:t>
            </a:r>
            <a:r>
              <a:rPr lang="en-US" altLang="ko-KR" dirty="0" err="1"/>
              <a:t>tae</a:t>
            </a:r>
            <a:r>
              <a:rPr lang="en-US" altLang="ko-KR" dirty="0"/>
              <a:t>, research engineer at Hanwha Precision Machinery Robot Division.</a:t>
            </a:r>
          </a:p>
          <a:p>
            <a:r>
              <a:rPr lang="en-US" altLang="ko-KR" dirty="0"/>
              <a:t>As you have seen at the last meeting in </a:t>
            </a:r>
            <a:r>
              <a:rPr lang="en-US" altLang="ko-KR" dirty="0" err="1"/>
              <a:t>korea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this is the leader engineer </a:t>
            </a:r>
            <a:r>
              <a:rPr lang="en-US" altLang="ko-KR" dirty="0" err="1"/>
              <a:t>Mr</a:t>
            </a:r>
            <a:r>
              <a:rPr lang="en-US" altLang="ko-KR" dirty="0"/>
              <a:t> lee in the algorithm part</a:t>
            </a:r>
          </a:p>
          <a:p>
            <a:endParaRPr lang="en-US" altLang="ko-KR" dirty="0"/>
          </a:p>
          <a:p>
            <a:r>
              <a:rPr lang="en-US" altLang="ko-KR" dirty="0"/>
              <a:t>Today we will go over what we need to worry about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A7749-7FF1-4233-B330-B5BE91383E8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675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appreciate for listening</a:t>
            </a:r>
            <a:endParaRPr lang="ko-KR" altLang="en-US" dirty="0"/>
          </a:p>
          <a:p>
            <a:r>
              <a:rPr lang="en-US" altLang="ko-KR" dirty="0"/>
              <a:t>Anything else question?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A7749-7FF1-4233-B330-B5BE91383E8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652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9C3D0B-4713-49DC-BCEA-A9FC879802B4}" type="datetimeFigureOut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34A41CF-331A-463F-8B91-7D686BCE03C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0" y="1"/>
            <a:ext cx="9144000" cy="68579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9" name="Picture 3" descr="마크컬러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02978" y="229518"/>
            <a:ext cx="1585481" cy="501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9"/>
          <p:cNvPicPr>
            <a:picLocks noChangeAspect="1" noChangeArrowheads="1"/>
          </p:cNvPicPr>
          <p:nvPr userDrawn="1"/>
        </p:nvPicPr>
        <p:blipFill>
          <a:blip r:embed="rId3"/>
          <a:srcRect l="48229" t="39221" r="13542" b="6407"/>
          <a:stretch>
            <a:fillRect/>
          </a:stretch>
        </p:blipFill>
        <p:spPr bwMode="auto">
          <a:xfrm>
            <a:off x="4140200" y="2544084"/>
            <a:ext cx="4660900" cy="39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110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8093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1962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7240-CD16-42E9-9EA1-78AE035C52CF}" type="datetimeFigureOut">
              <a:rPr lang="ko-KR" altLang="en-US" smtClean="0"/>
              <a:t>2023-11-17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6F8D9-4148-439F-B8E5-DC67DA6FB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64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39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8818363" y="6604327"/>
            <a:ext cx="323808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890D3D4-E888-42C7-B0A0-6BABD1A7762D}" type="slidenum">
              <a:rPr lang="en-US" altLang="ko-KR" sz="900">
                <a:solidFill>
                  <a:srgbClr val="000000"/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82305"/>
            <a:ext cx="9144000" cy="0"/>
          </a:xfrm>
          <a:prstGeom prst="line">
            <a:avLst/>
          </a:prstGeom>
          <a:ln w="38100">
            <a:solidFill>
              <a:srgbClr val="F373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966732" y="180975"/>
            <a:ext cx="1177268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3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7901467" y="6604327"/>
            <a:ext cx="791884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000000"/>
                </a:solidFill>
              </a:rPr>
              <a:t>Confidential</a:t>
            </a:r>
          </a:p>
        </p:txBody>
      </p:sp>
      <p:sp>
        <p:nvSpPr>
          <p:cNvPr id="12" name="Rectangle 13"/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8653438" y="6589813"/>
            <a:ext cx="209994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|</a:t>
            </a:r>
          </a:p>
        </p:txBody>
      </p:sp>
      <p:cxnSp>
        <p:nvCxnSpPr>
          <p:cNvPr id="13" name="직선 연결선 12"/>
          <p:cNvCxnSpPr/>
          <p:nvPr userDrawn="1"/>
        </p:nvCxnSpPr>
        <p:spPr bwMode="auto">
          <a:xfrm flipH="1">
            <a:off x="61546" y="6600810"/>
            <a:ext cx="857250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7539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hyperlink" Target="https://robotacademy.net.au/lesson/analyzing-a-2-joint-planar-robot-arm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robotacademy.net.au/lesson/inverse-kinematics-for-a-2-joint-robot-arm-using-geometry/" TargetMode="External"/><Relationship Id="rId11" Type="http://schemas.openxmlformats.org/officeDocument/2006/relationships/image" Target="../media/image23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hyperlink" Target="https://sites.nd.edu/pwensing/ame-50551-introduction-to-robotics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nd.edu/pwensing/ame-50551-introduction-to-robotics/" TargetMode="Externa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hyperlink" Target="https://www.diag.uniroma1.it/deluca/rob2_en/material_rob2_en.htm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 dirty="0" smtClean="0">
                <a:latin typeface="+mn-lt"/>
              </a:rPr>
              <a:t>Robot </a:t>
            </a:r>
            <a:r>
              <a:rPr lang="en-US" altLang="ko-KR" sz="4400" dirty="0" smtClean="0">
                <a:latin typeface="+mn-lt"/>
              </a:rPr>
              <a:t>Forward/Inverse Kinematics</a:t>
            </a:r>
            <a:endParaRPr lang="ko-KR" altLang="en-US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058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Kinematic </a:t>
            </a:r>
            <a:r>
              <a:rPr lang="en-US" altLang="ko-KR" dirty="0" smtClean="0">
                <a:latin typeface="+mn-lt"/>
              </a:rPr>
              <a:t>Chain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직사각형 9"/>
              <p:cNvSpPr/>
              <p:nvPr/>
            </p:nvSpPr>
            <p:spPr>
              <a:xfrm>
                <a:off x="353479" y="3641561"/>
                <a:ext cx="38571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DH(</a:t>
                </a:r>
                <a:r>
                  <a:rPr lang="en-US" altLang="ko-KR" sz="1600" b="1" dirty="0" err="1" smtClean="0">
                    <a:latin typeface="Calibri (본문)"/>
                  </a:rPr>
                  <a:t>Denavit-Hartenberg</a:t>
                </a:r>
                <a:r>
                  <a:rPr lang="en-US" altLang="ko-KR" sz="1600" b="1" dirty="0" smtClean="0">
                    <a:latin typeface="Calibri (본문)"/>
                  </a:rPr>
                  <a:t>) parameters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3641561"/>
                <a:ext cx="3857146" cy="461665"/>
              </a:xfrm>
              <a:prstGeom prst="rect">
                <a:avLst/>
              </a:prstGeom>
              <a:blipFill>
                <a:blip r:embed="rId2"/>
                <a:stretch>
                  <a:fillRect r="-316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직사각형 89"/>
              <p:cNvSpPr/>
              <p:nvPr/>
            </p:nvSpPr>
            <p:spPr>
              <a:xfrm>
                <a:off x="354281" y="735218"/>
                <a:ext cx="24641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Transformation matrix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81" y="735218"/>
                <a:ext cx="2464136" cy="461665"/>
              </a:xfrm>
              <a:prstGeom prst="rect">
                <a:avLst/>
              </a:prstGeom>
              <a:blipFill>
                <a:blip r:embed="rId3"/>
                <a:stretch>
                  <a:fillRect r="-1238"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3798" y="1119205"/>
            <a:ext cx="3299042" cy="23687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41726" y="1173781"/>
                <a:ext cx="3099118" cy="11098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sub>
                                </m:sSub>
                                <m:r>
                                  <a:rPr lang="en-US" altLang="ko-KR" sz="1600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ko-KR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6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𝑗</m:t>
                                            </m:r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𝑖𝑓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26" y="1173781"/>
                <a:ext cx="3099118" cy="11098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67555" y="2328384"/>
                <a:ext cx="238838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⋯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55" y="2328384"/>
                <a:ext cx="2388380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직사각형 10"/>
              <p:cNvSpPr/>
              <p:nvPr/>
            </p:nvSpPr>
            <p:spPr>
              <a:xfrm>
                <a:off x="1444687" y="2891821"/>
                <a:ext cx="1509452" cy="5408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  <m:sup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11" name="직사각형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687" y="2891821"/>
                <a:ext cx="1509452" cy="540854"/>
              </a:xfrm>
              <a:prstGeom prst="rect">
                <a:avLst/>
              </a:prstGeom>
              <a:blipFill>
                <a:blip r:embed="rId7"/>
                <a:stretch>
                  <a:fillRect b="-22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왼쪽 중괄호 11"/>
          <p:cNvSpPr/>
          <p:nvPr/>
        </p:nvSpPr>
        <p:spPr>
          <a:xfrm rot="16200000">
            <a:off x="1933026" y="1925820"/>
            <a:ext cx="251882" cy="1647127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grpSp>
        <p:nvGrpSpPr>
          <p:cNvPr id="15" name="그룹 14"/>
          <p:cNvGrpSpPr/>
          <p:nvPr/>
        </p:nvGrpSpPr>
        <p:grpSpPr>
          <a:xfrm>
            <a:off x="741726" y="4155366"/>
            <a:ext cx="7718466" cy="1087493"/>
            <a:chOff x="963369" y="4537812"/>
            <a:chExt cx="7718466" cy="108749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963369" y="4583635"/>
                  <a:ext cx="335413" cy="98488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1600" dirty="0" smtClean="0"/>
                    <a:t>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ko-KR" sz="1600" dirty="0" smtClean="0"/>
                    <a:t> </a:t>
                  </a:r>
                  <a:endParaRPr lang="en-US" altLang="ko-KR" sz="1600" i="1" dirty="0">
                    <a:latin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ko-KR" sz="160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ko-KR" sz="1600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altLang="ko-KR" sz="1600" dirty="0"/>
                </a:p>
              </p:txBody>
            </p:sp>
          </mc:Choice>
          <mc:Fallback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369" y="4583635"/>
                  <a:ext cx="335413" cy="984885"/>
                </a:xfrm>
                <a:prstGeom prst="rect">
                  <a:avLst/>
                </a:prstGeom>
                <a:blipFill>
                  <a:blip r:embed="rId8"/>
                  <a:stretch>
                    <a:fillRect b="-308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" name="직사각형 13"/>
                <p:cNvSpPr/>
                <p:nvPr/>
              </p:nvSpPr>
              <p:spPr>
                <a:xfrm>
                  <a:off x="1286742" y="4537812"/>
                  <a:ext cx="578062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dirty="0" smtClean="0"/>
                    <a:t>:  joint </a:t>
                  </a:r>
                  <a:r>
                    <a:rPr lang="en-US" altLang="ko-KR" sz="1600" dirty="0"/>
                    <a:t>angle – the angle between the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altLang="ko-KR" sz="1600" dirty="0" smtClean="0"/>
                    <a:t> axes about the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altLang="ko-KR" sz="1600" dirty="0" smtClean="0"/>
                    <a:t> axis </a:t>
                  </a:r>
                  <a:endParaRPr lang="en-US" altLang="ko-KR" sz="1600" dirty="0"/>
                </a:p>
              </p:txBody>
            </p:sp>
          </mc:Choice>
          <mc:Fallback>
            <p:sp>
              <p:nvSpPr>
                <p:cNvPr id="14" name="직사각형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6742" y="4537812"/>
                  <a:ext cx="5780621" cy="338554"/>
                </a:xfrm>
                <a:prstGeom prst="rect">
                  <a:avLst/>
                </a:prstGeom>
                <a:blipFill>
                  <a:blip r:embed="rId9"/>
                  <a:stretch>
                    <a:fillRect l="-633" t="-5455" b="-236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직사각형 24"/>
                <p:cNvSpPr/>
                <p:nvPr/>
              </p:nvSpPr>
              <p:spPr>
                <a:xfrm>
                  <a:off x="1291094" y="4786006"/>
                  <a:ext cx="7390741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dirty="0"/>
                    <a:t>: </a:t>
                  </a:r>
                  <a:r>
                    <a:rPr lang="en-US" altLang="ko-KR" sz="1600" dirty="0" smtClean="0"/>
                    <a:t> link offset  – </a:t>
                  </a:r>
                  <a:r>
                    <a:rPr lang="en-US" altLang="ko-KR" sz="1600" dirty="0"/>
                    <a:t>the </a:t>
                  </a:r>
                  <a:r>
                    <a:rPr lang="en-US" altLang="ko-KR" sz="1600" dirty="0" smtClean="0"/>
                    <a:t>distance from the origin of frame {i-1} 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ko-KR" sz="1600" dirty="0" smtClean="0"/>
                    <a:t> axes along the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altLang="ko-KR" sz="1600" dirty="0"/>
                    <a:t> axis </a:t>
                  </a:r>
                  <a:r>
                    <a:rPr lang="en-US" altLang="ko-KR" sz="1600" dirty="0" smtClean="0"/>
                    <a:t> </a:t>
                  </a:r>
                  <a:endParaRPr lang="en-US" altLang="ko-KR" sz="1600" dirty="0"/>
                </a:p>
              </p:txBody>
            </p:sp>
          </mc:Choice>
          <mc:Fallback>
            <p:sp>
              <p:nvSpPr>
                <p:cNvPr id="25" name="직사각형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1094" y="4786006"/>
                  <a:ext cx="7390741" cy="338554"/>
                </a:xfrm>
                <a:prstGeom prst="rect">
                  <a:avLst/>
                </a:prstGeom>
                <a:blipFill>
                  <a:blip r:embed="rId10"/>
                  <a:stretch>
                    <a:fillRect l="-412" t="-5357" b="-2142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직사각형 25"/>
                <p:cNvSpPr/>
                <p:nvPr/>
              </p:nvSpPr>
              <p:spPr>
                <a:xfrm>
                  <a:off x="1286738" y="5042910"/>
                  <a:ext cx="630268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dirty="0"/>
                    <a:t>: </a:t>
                  </a:r>
                  <a:r>
                    <a:rPr lang="en-US" altLang="ko-KR" sz="1600" dirty="0" smtClean="0"/>
                    <a:t> link length </a:t>
                  </a:r>
                  <a:r>
                    <a:rPr lang="en-US" altLang="ko-KR" sz="1600" dirty="0"/>
                    <a:t>– the </a:t>
                  </a:r>
                  <a:r>
                    <a:rPr lang="en-US" altLang="ko-KR" sz="1600" dirty="0" smtClean="0"/>
                    <a:t>distance between the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altLang="ko-KR" sz="1600" dirty="0" smtClean="0"/>
                    <a:t> and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ko-KR" sz="1600" dirty="0" smtClean="0"/>
                    <a:t> axes along the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ko-KR" sz="1600" dirty="0" smtClean="0"/>
                    <a:t> axis</a:t>
                  </a:r>
                  <a:endParaRPr lang="en-US" altLang="ko-KR" sz="1600" dirty="0"/>
                </a:p>
              </p:txBody>
            </p:sp>
          </mc:Choice>
          <mc:Fallback>
            <p:sp>
              <p:nvSpPr>
                <p:cNvPr id="26" name="직사각형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6738" y="5042910"/>
                  <a:ext cx="6302687" cy="338554"/>
                </a:xfrm>
                <a:prstGeom prst="rect">
                  <a:avLst/>
                </a:prstGeom>
                <a:blipFill>
                  <a:blip r:embed="rId11"/>
                  <a:stretch>
                    <a:fillRect l="-580" t="-5455" b="-236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직사각형 26"/>
                <p:cNvSpPr/>
                <p:nvPr/>
              </p:nvSpPr>
              <p:spPr>
                <a:xfrm>
                  <a:off x="1286739" y="5286751"/>
                  <a:ext cx="5225982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dirty="0"/>
                    <a:t>: </a:t>
                  </a:r>
                  <a:r>
                    <a:rPr lang="en-US" altLang="ko-KR" sz="1600" dirty="0" smtClean="0"/>
                    <a:t> link twist   – the angle from the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a14:m>
                  <a:r>
                    <a:rPr lang="en-US" altLang="ko-KR" sz="1600" dirty="0"/>
                    <a:t> </a:t>
                  </a:r>
                  <a:r>
                    <a:rPr lang="en-US" altLang="ko-KR" sz="1600" dirty="0" smtClean="0"/>
                    <a:t>to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ko-KR" sz="1600" dirty="0" smtClean="0"/>
                    <a:t> axis about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en-US" altLang="ko-KR" sz="1600" dirty="0" smtClean="0"/>
                    <a:t> axis</a:t>
                  </a:r>
                  <a:endParaRPr lang="en-US" altLang="ko-KR" sz="1600" dirty="0"/>
                </a:p>
              </p:txBody>
            </p:sp>
          </mc:Choice>
          <mc:Fallback>
            <p:sp>
              <p:nvSpPr>
                <p:cNvPr id="27" name="직사각형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86739" y="5286751"/>
                  <a:ext cx="5225982" cy="338554"/>
                </a:xfrm>
                <a:prstGeom prst="rect">
                  <a:avLst/>
                </a:prstGeom>
                <a:blipFill>
                  <a:blip r:embed="rId12"/>
                  <a:stretch>
                    <a:fillRect l="-700" t="-5455" b="-2363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직사각형 15"/>
              <p:cNvSpPr/>
              <p:nvPr/>
            </p:nvSpPr>
            <p:spPr>
              <a:xfrm>
                <a:off x="741726" y="5301850"/>
                <a:ext cx="7850804" cy="12891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600" dirty="0" smtClean="0"/>
                  <a:t>The transformation from {</a:t>
                </a:r>
                <a:r>
                  <a:rPr lang="en-US" altLang="ko-KR" sz="1600" i="1" dirty="0" smtClean="0"/>
                  <a:t>i-1</a:t>
                </a:r>
                <a:r>
                  <a:rPr lang="en-US" altLang="ko-KR" sz="1600" dirty="0" smtClean="0"/>
                  <a:t>} to {</a:t>
                </a:r>
                <a:r>
                  <a:rPr lang="en-US" altLang="ko-KR" sz="1600" i="1" dirty="0" err="1" smtClean="0"/>
                  <a:t>i</a:t>
                </a:r>
                <a:r>
                  <a:rPr lang="en-US" altLang="ko-KR" sz="1600" dirty="0" smtClean="0"/>
                  <a:t>}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𝑅𝑜𝑡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𝑇𝑟𝑎𝑛𝑠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𝑇𝑟𝑎𝑛𝑠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𝑅𝑜𝑡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endParaRPr lang="en-US" altLang="ko-KR" sz="1600" b="0" i="1" dirty="0" smtClean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𝑜𝑠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𝑐𝑜𝑠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𝑜𝑠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𝑜𝑠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𝑜𝑠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𝑜𝑠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𝑐𝑜𝑠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𝑠𝑖𝑛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altLang="ko-KR" sz="1600" i="1">
                                          <a:latin typeface="Cambria Math" panose="02040503050406030204" pitchFamily="18" charset="0"/>
                                        </a:rPr>
                                        <m:t>𝑖𝑛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𝑐𝑜𝑠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ko-KR" altLang="en-US" sz="1600" i="1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ko-K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26" y="5301850"/>
                <a:ext cx="7850804" cy="1289199"/>
              </a:xfrm>
              <a:prstGeom prst="rect">
                <a:avLst/>
              </a:prstGeom>
              <a:blipFill>
                <a:blip r:embed="rId13"/>
                <a:stretch>
                  <a:fillRect l="-466" t="-9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845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/>
          <p:cNvGrpSpPr/>
          <p:nvPr/>
        </p:nvGrpSpPr>
        <p:grpSpPr>
          <a:xfrm>
            <a:off x="4005978" y="5298145"/>
            <a:ext cx="1675906" cy="1235229"/>
            <a:chOff x="4859095" y="3700672"/>
            <a:chExt cx="3592456" cy="2188284"/>
          </a:xfrm>
        </p:grpSpPr>
        <p:grpSp>
          <p:nvGrpSpPr>
            <p:cNvPr id="32" name="그룹 31"/>
            <p:cNvGrpSpPr/>
            <p:nvPr/>
          </p:nvGrpSpPr>
          <p:grpSpPr>
            <a:xfrm>
              <a:off x="4859095" y="3700672"/>
              <a:ext cx="3592456" cy="2188284"/>
              <a:chOff x="4859095" y="3338512"/>
              <a:chExt cx="3592456" cy="2912605"/>
            </a:xfrm>
          </p:grpSpPr>
          <p:pic>
            <p:nvPicPr>
              <p:cNvPr id="24" name="그림 23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59095" y="3338512"/>
                <a:ext cx="3592456" cy="2912605"/>
              </a:xfrm>
              <a:prstGeom prst="rect">
                <a:avLst/>
              </a:prstGeom>
            </p:spPr>
          </p:pic>
          <p:cxnSp>
            <p:nvCxnSpPr>
              <p:cNvPr id="25" name="직선 연결선 24"/>
              <p:cNvCxnSpPr/>
              <p:nvPr/>
            </p:nvCxnSpPr>
            <p:spPr>
              <a:xfrm flipV="1">
                <a:off x="5640777" y="4768226"/>
                <a:ext cx="2005349" cy="903978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>
              <a:xfrm flipH="1" flipV="1">
                <a:off x="7492180" y="4241336"/>
                <a:ext cx="153946" cy="526891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직선 연결선 26"/>
              <p:cNvCxnSpPr/>
              <p:nvPr/>
            </p:nvCxnSpPr>
            <p:spPr>
              <a:xfrm flipV="1">
                <a:off x="5640777" y="4241337"/>
                <a:ext cx="1851403" cy="1383866"/>
              </a:xfrm>
              <a:prstGeom prst="line">
                <a:avLst/>
              </a:prstGeom>
              <a:ln w="28575">
                <a:solidFill>
                  <a:srgbClr val="FF0000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" name="직선 연결선 35"/>
            <p:cNvCxnSpPr/>
            <p:nvPr/>
          </p:nvCxnSpPr>
          <p:spPr>
            <a:xfrm flipV="1">
              <a:off x="7492180" y="4401187"/>
              <a:ext cx="0" cy="1060829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 flipH="1" flipV="1">
              <a:off x="5640778" y="5462017"/>
              <a:ext cx="1851402" cy="22208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그룹 30"/>
          <p:cNvGrpSpPr/>
          <p:nvPr/>
        </p:nvGrpSpPr>
        <p:grpSpPr>
          <a:xfrm>
            <a:off x="574435" y="5172955"/>
            <a:ext cx="1675906" cy="1358752"/>
            <a:chOff x="-2260162" y="997879"/>
            <a:chExt cx="3592456" cy="2912605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2260162" y="997879"/>
              <a:ext cx="3592456" cy="2912605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/>
          </p:nvCxnSpPr>
          <p:spPr>
            <a:xfrm flipV="1">
              <a:off x="-1478480" y="2826473"/>
              <a:ext cx="1027613" cy="505097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V="1">
              <a:off x="-413795" y="1900703"/>
              <a:ext cx="786718" cy="922202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 flipV="1">
              <a:off x="-1478480" y="1900703"/>
              <a:ext cx="1851403" cy="1383867"/>
            </a:xfrm>
            <a:prstGeom prst="line">
              <a:avLst/>
            </a:prstGeom>
            <a:ln w="28575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A-2-Link Robot(SE(2))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직사각형 9"/>
              <p:cNvSpPr/>
              <p:nvPr/>
            </p:nvSpPr>
            <p:spPr>
              <a:xfrm>
                <a:off x="353479" y="2727165"/>
                <a:ext cx="22429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Forward kinematics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2727165"/>
                <a:ext cx="2242922" cy="461665"/>
              </a:xfrm>
              <a:prstGeom prst="rect">
                <a:avLst/>
              </a:prstGeom>
              <a:blipFill>
                <a:blip r:embed="rId3"/>
                <a:stretch>
                  <a:fillRect r="-1087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직사각형 89"/>
              <p:cNvSpPr/>
              <p:nvPr/>
            </p:nvSpPr>
            <p:spPr>
              <a:xfrm>
                <a:off x="353479" y="918098"/>
                <a:ext cx="182774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DH parameters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918098"/>
                <a:ext cx="1827744" cy="461665"/>
              </a:xfrm>
              <a:prstGeom prst="rect">
                <a:avLst/>
              </a:prstGeom>
              <a:blipFill>
                <a:blip r:embed="rId4"/>
                <a:stretch>
                  <a:fillRect r="-1667"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직사각형 5"/>
              <p:cNvSpPr/>
              <p:nvPr/>
            </p:nvSpPr>
            <p:spPr>
              <a:xfrm>
                <a:off x="353479" y="4401187"/>
                <a:ext cx="215315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Inverse kinematics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4401187"/>
                <a:ext cx="2153154" cy="461665"/>
              </a:xfrm>
              <a:prstGeom prst="rect">
                <a:avLst/>
              </a:prstGeom>
              <a:blipFill>
                <a:blip r:embed="rId5"/>
                <a:stretch>
                  <a:fillRect r="-1416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05393" y="4862852"/>
            <a:ext cx="4598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Solve “two” nonlinear equations in “two” unknowns.</a:t>
            </a:r>
            <a:endParaRPr lang="ko-KR" altLang="en-US" sz="1600" dirty="0"/>
          </a:p>
        </p:txBody>
      </p:sp>
      <p:sp>
        <p:nvSpPr>
          <p:cNvPr id="4" name="직사각형 3"/>
          <p:cNvSpPr/>
          <p:nvPr/>
        </p:nvSpPr>
        <p:spPr>
          <a:xfrm>
            <a:off x="2506633" y="4499859"/>
            <a:ext cx="630936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6"/>
              </a:rPr>
              <a:t>Inverse Kinematics for a 2-Joint Robot Arm Using Geometry | Robot Academy</a:t>
            </a:r>
            <a:endParaRPr lang="ko-KR" altLang="en-US" sz="1400" dirty="0"/>
          </a:p>
        </p:txBody>
      </p:sp>
      <p:sp>
        <p:nvSpPr>
          <p:cNvPr id="7" name="직사각형 6"/>
          <p:cNvSpPr/>
          <p:nvPr/>
        </p:nvSpPr>
        <p:spPr>
          <a:xfrm>
            <a:off x="2506633" y="2830323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400" dirty="0">
                <a:hlinkClick r:id="rId7"/>
              </a:rPr>
              <a:t>Analyzing a 2-joint planar robot arm | Robot Academy</a:t>
            </a:r>
            <a:endParaRPr lang="ko-KR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표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6651457"/>
                  </p:ext>
                </p:extLst>
              </p:nvPr>
            </p:nvGraphicFramePr>
            <p:xfrm>
              <a:off x="677684" y="1366466"/>
              <a:ext cx="3197630" cy="10641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9526">
                      <a:extLst>
                        <a:ext uri="{9D8B030D-6E8A-4147-A177-3AD203B41FA5}">
                          <a16:colId xmlns:a16="http://schemas.microsoft.com/office/drawing/2014/main" val="1214196974"/>
                        </a:ext>
                      </a:extLst>
                    </a:gridCol>
                    <a:gridCol w="639526">
                      <a:extLst>
                        <a:ext uri="{9D8B030D-6E8A-4147-A177-3AD203B41FA5}">
                          <a16:colId xmlns:a16="http://schemas.microsoft.com/office/drawing/2014/main" val="2235625674"/>
                        </a:ext>
                      </a:extLst>
                    </a:gridCol>
                    <a:gridCol w="639526">
                      <a:extLst>
                        <a:ext uri="{9D8B030D-6E8A-4147-A177-3AD203B41FA5}">
                          <a16:colId xmlns:a16="http://schemas.microsoft.com/office/drawing/2014/main" val="3231268988"/>
                        </a:ext>
                      </a:extLst>
                    </a:gridCol>
                    <a:gridCol w="639526">
                      <a:extLst>
                        <a:ext uri="{9D8B030D-6E8A-4147-A177-3AD203B41FA5}">
                          <a16:colId xmlns:a16="http://schemas.microsoft.com/office/drawing/2014/main" val="934364771"/>
                        </a:ext>
                      </a:extLst>
                    </a:gridCol>
                    <a:gridCol w="639526">
                      <a:extLst>
                        <a:ext uri="{9D8B030D-6E8A-4147-A177-3AD203B41FA5}">
                          <a16:colId xmlns:a16="http://schemas.microsoft.com/office/drawing/2014/main" val="2581841400"/>
                        </a:ext>
                      </a:extLst>
                    </a:gridCol>
                  </a:tblGrid>
                  <a:tr h="35470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Link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ko-KR" altLang="en-US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4600256"/>
                      </a:ext>
                    </a:extLst>
                  </a:tr>
                  <a:tr h="35470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5077594"/>
                      </a:ext>
                    </a:extLst>
                  </a:tr>
                  <a:tr h="35470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9726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표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6651457"/>
                  </p:ext>
                </p:extLst>
              </p:nvPr>
            </p:nvGraphicFramePr>
            <p:xfrm>
              <a:off x="677684" y="1366466"/>
              <a:ext cx="3197630" cy="10641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9526">
                      <a:extLst>
                        <a:ext uri="{9D8B030D-6E8A-4147-A177-3AD203B41FA5}">
                          <a16:colId xmlns:a16="http://schemas.microsoft.com/office/drawing/2014/main" val="1214196974"/>
                        </a:ext>
                      </a:extLst>
                    </a:gridCol>
                    <a:gridCol w="639526">
                      <a:extLst>
                        <a:ext uri="{9D8B030D-6E8A-4147-A177-3AD203B41FA5}">
                          <a16:colId xmlns:a16="http://schemas.microsoft.com/office/drawing/2014/main" val="2235625674"/>
                        </a:ext>
                      </a:extLst>
                    </a:gridCol>
                    <a:gridCol w="639526">
                      <a:extLst>
                        <a:ext uri="{9D8B030D-6E8A-4147-A177-3AD203B41FA5}">
                          <a16:colId xmlns:a16="http://schemas.microsoft.com/office/drawing/2014/main" val="3231268988"/>
                        </a:ext>
                      </a:extLst>
                    </a:gridCol>
                    <a:gridCol w="639526">
                      <a:extLst>
                        <a:ext uri="{9D8B030D-6E8A-4147-A177-3AD203B41FA5}">
                          <a16:colId xmlns:a16="http://schemas.microsoft.com/office/drawing/2014/main" val="934364771"/>
                        </a:ext>
                      </a:extLst>
                    </a:gridCol>
                    <a:gridCol w="639526">
                      <a:extLst>
                        <a:ext uri="{9D8B030D-6E8A-4147-A177-3AD203B41FA5}">
                          <a16:colId xmlns:a16="http://schemas.microsoft.com/office/drawing/2014/main" val="2581841400"/>
                        </a:ext>
                      </a:extLst>
                    </a:gridCol>
                  </a:tblGrid>
                  <a:tr h="35470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Link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952" t="-5172" r="-301905" b="-2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200952" t="-5172" r="-201905" b="-2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300952" t="-5172" r="-101905" b="-2189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400952" t="-5172" r="-1905" b="-2189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4600256"/>
                      </a:ext>
                    </a:extLst>
                  </a:tr>
                  <a:tr h="35470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952" t="-103390" r="-301905" b="-1152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85077594"/>
                      </a:ext>
                    </a:extLst>
                  </a:tr>
                  <a:tr h="35470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952" t="-206897" r="-301905" b="-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b="0" dirty="0" smtClean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  <a:endParaRPr lang="ko-KR" altLang="en-US" sz="16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41972630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955" y="692603"/>
            <a:ext cx="2453693" cy="19893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직사각형 12"/>
              <p:cNvSpPr/>
              <p:nvPr/>
            </p:nvSpPr>
            <p:spPr>
              <a:xfrm>
                <a:off x="677684" y="3129484"/>
                <a:ext cx="7303088" cy="103765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sz="1600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ko-KR" sz="16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e>
                                </m:func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sz="1600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  <m:brk m:alnAt="7"/>
                                  </m:rPr>
                                  <a:rPr lang="en-US" altLang="ko-KR" sz="1600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600">
                                    <a:latin typeface="Cambria Math" panose="02040503050406030204" pitchFamily="18" charset="0"/>
                                  </a:rPr>
                                  <m:t>os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⁡</m:t>
                                </m:r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func>
                                      <m:funcPr>
                                        <m:ctrlPr>
                                          <a:rPr lang="en-US" altLang="ko-KR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600" i="0" smtClean="0"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fName>
                                      <m:e>
                                        <m:d>
                                          <m:dPr>
                                            <m:ctrlP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ko-KR" sz="16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ko-KR" sz="1600" i="1">
                                                    <a:latin typeface="Cambria Math" panose="02040503050406030204" pitchFamily="18" charset="0"/>
                                                  </a:rPr>
                                                  <m:t>𝑞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ko-KR" sz="1600" i="1"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</m:func>
                                  </m:fName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e>
                                </m:func>
                                <m:sSub>
                                  <m:sSubPr>
                                    <m:ctrlP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func>
                                  <m:funcPr>
                                    <m:ctrlPr>
                                      <a:rPr lang="en-US" altLang="ko-KR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6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i="1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i="1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684" y="3129484"/>
                <a:ext cx="7303088" cy="103765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1837506" y="5600153"/>
                <a:ext cx="2284728" cy="368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16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506" y="5600153"/>
                <a:ext cx="2284728" cy="368627"/>
              </a:xfrm>
              <a:prstGeom prst="rect">
                <a:avLst/>
              </a:prstGeom>
              <a:blipFill>
                <a:blip r:embed="rId10"/>
                <a:stretch>
                  <a:fillRect l="-1600"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/>
              <p:cNvSpPr txBox="1"/>
              <p:nvPr/>
            </p:nvSpPr>
            <p:spPr>
              <a:xfrm>
                <a:off x="5656458" y="5595726"/>
                <a:ext cx="3481146" cy="3865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altLang="ko-K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altLang="ko-KR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ko-K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60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e>
                            <m:sup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fName>
                        <m:e>
                          <m:d>
                            <m:d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box>
                                <m:boxPr>
                                  <m:ctrlPr>
                                    <a:rPr lang="en-US" altLang="ko-K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boxPr>
                                <m:e>
                                  <m:argPr>
                                    <m:argSz m:val="-1"/>
                                  </m:argPr>
                                  <m:f>
                                    <m:fPr>
                                      <m:ctrlPr>
                                        <a:rPr lang="en-US" altLang="ko-KR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ko-K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func>
                                        <m:funcPr>
                                          <m:ctrlPr>
                                            <a:rPr lang="en-US" altLang="ko-K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i="0" smtClean="0">
                                              <a:latin typeface="Cambria Math" panose="02040503050406030204" pitchFamily="18" charset="0"/>
                                            </a:rPr>
                                            <m:t>sin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16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6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func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16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func>
                                        <m:funcPr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1600" b="0" i="0" smtClean="0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𝑞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6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func>
                                    </m:den>
                                  </m:f>
                                </m:e>
                              </m:box>
                            </m:e>
                          </m:d>
                        </m:e>
                      </m:func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6458" y="5595726"/>
                <a:ext cx="3481146" cy="386516"/>
              </a:xfrm>
              <a:prstGeom prst="rect">
                <a:avLst/>
              </a:prstGeom>
              <a:blipFill>
                <a:blip r:embed="rId11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7537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Hanwha Collaborative Robot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직사각형 9"/>
              <p:cNvSpPr/>
              <p:nvPr/>
            </p:nvSpPr>
            <p:spPr>
              <a:xfrm>
                <a:off x="353479" y="3737356"/>
                <a:ext cx="106952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HCR12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3737356"/>
                <a:ext cx="1069524" cy="461665"/>
              </a:xfrm>
              <a:prstGeom prst="rect">
                <a:avLst/>
              </a:prstGeom>
              <a:blipFill>
                <a:blip r:embed="rId2"/>
                <a:stretch>
                  <a:fillRect r="-4000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직사각형 89"/>
              <p:cNvSpPr/>
              <p:nvPr/>
            </p:nvSpPr>
            <p:spPr>
              <a:xfrm>
                <a:off x="352641" y="732469"/>
                <a:ext cx="95410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HCR5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41" y="732469"/>
                <a:ext cx="954107" cy="461665"/>
              </a:xfrm>
              <a:prstGeom prst="rect">
                <a:avLst/>
              </a:prstGeom>
              <a:blipFill>
                <a:blip r:embed="rId3"/>
                <a:stretch>
                  <a:fillRect r="-4487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EB630964-96A9-4F38-BAB2-F9E52380C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695" y="4225407"/>
            <a:ext cx="1851974" cy="218562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20B2770-9520-4AC1-854A-7E33B813F6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3291" y="1458554"/>
            <a:ext cx="4714315" cy="204869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085D287-9F97-4B53-977D-A7F56BB60D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9178" y="4170585"/>
            <a:ext cx="4708428" cy="197616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530CDD1-3CC8-4450-8276-854FD2888F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33" y="1253749"/>
            <a:ext cx="1620313" cy="261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1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Inverse kinematics – Numerical Solution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직사각형 25"/>
              <p:cNvSpPr/>
              <p:nvPr/>
            </p:nvSpPr>
            <p:spPr>
              <a:xfrm>
                <a:off x="353479" y="978040"/>
                <a:ext cx="20714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Newton’s method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26" name="직사각형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978040"/>
                <a:ext cx="2071401" cy="461665"/>
              </a:xfrm>
              <a:prstGeom prst="rect">
                <a:avLst/>
              </a:prstGeom>
              <a:blipFill>
                <a:blip r:embed="rId2"/>
                <a:stretch>
                  <a:fillRect r="-1176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직사각형 30"/>
              <p:cNvSpPr/>
              <p:nvPr/>
            </p:nvSpPr>
            <p:spPr>
              <a:xfrm>
                <a:off x="353479" y="3467898"/>
                <a:ext cx="2276585" cy="412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Line search method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31" name="직사각형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3467898"/>
                <a:ext cx="2276585" cy="412998"/>
              </a:xfrm>
              <a:prstGeom prst="rect">
                <a:avLst/>
              </a:prstGeom>
              <a:blipFill>
                <a:blip r:embed="rId3"/>
                <a:stretch>
                  <a:fillRect r="-1340" b="-161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직사각형 1"/>
          <p:cNvSpPr/>
          <p:nvPr/>
        </p:nvSpPr>
        <p:spPr>
          <a:xfrm>
            <a:off x="3675017" y="6293172"/>
            <a:ext cx="52991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4"/>
              </a:rPr>
              <a:t>AME 50551 – Introduction To Robotics – Patrick M. </a:t>
            </a:r>
            <a:r>
              <a:rPr lang="en-US" altLang="ko-KR" sz="1400" dirty="0" err="1">
                <a:hlinkClick r:id="rId4"/>
              </a:rPr>
              <a:t>Wensing</a:t>
            </a:r>
            <a:r>
              <a:rPr lang="en-US" altLang="ko-KR" sz="1400" dirty="0">
                <a:hlinkClick r:id="rId4"/>
              </a:rPr>
              <a:t> (nd.edu)</a:t>
            </a:r>
            <a:endParaRPr lang="ko-KR" alt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701446" y="1434554"/>
                <a:ext cx="6653553" cy="11555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box>
                        <m:box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</m:e>
                      </m:box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   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𝑆𝐸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(3) </m:t>
                      </m:r>
                    </m:oMath>
                  </m:oMathPara>
                </a14:m>
                <a:endParaRPr lang="en-US" altLang="ko-KR" sz="1600" b="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smtClean="0"/>
                  <a:t>Root finding 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ctrlPr>
                          <a:rPr lang="en-US" altLang="ko-KR" sz="16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+</m:t>
                    </m:r>
                    <m:box>
                      <m:box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brk m:alnAt="63"/>
                              </m:r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num>
                          <m:den>
                            <m:r>
                              <m:rPr>
                                <m:brk m:alnAt="63"/>
                              </m:r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ko-KR" altLang="en-US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den>
                        </m:f>
                        <m:r>
                          <m:rPr>
                            <m:brk m:alnAt="6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brk m:alnAt="6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ko-KR" altLang="en-US" sz="16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brk m:alnAt="63"/>
                          </m:r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ox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60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altLang="ko-KR" sz="1600" dirty="0" smtClean="0"/>
                  <a:t>Newton’s method for inverse kinematics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ko-KR" altLang="en-US" sz="16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ko-KR" sz="1600" dirty="0" smtClean="0"/>
                  <a:t> </a:t>
                </a:r>
                <a:endParaRPr lang="ko-KR" altLang="en-US" sz="16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46" y="1434554"/>
                <a:ext cx="6653553" cy="1155509"/>
              </a:xfrm>
              <a:prstGeom prst="rect">
                <a:avLst/>
              </a:prstGeom>
              <a:blipFill>
                <a:blip r:embed="rId5"/>
                <a:stretch>
                  <a:fillRect l="-1832" b="-73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/>
          <p:cNvCxnSpPr>
            <a:stCxn id="11" idx="0"/>
          </p:cNvCxnSpPr>
          <p:nvPr/>
        </p:nvCxnSpPr>
        <p:spPr>
          <a:xfrm flipV="1">
            <a:off x="5607284" y="2568581"/>
            <a:ext cx="0" cy="3836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627570" y="2952205"/>
            <a:ext cx="19594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(geometric) </a:t>
            </a:r>
            <a:r>
              <a:rPr lang="en-US" altLang="ko-KR" sz="1600" dirty="0"/>
              <a:t>J</a:t>
            </a:r>
            <a:r>
              <a:rPr lang="en-US" altLang="ko-KR" sz="1600" dirty="0" smtClean="0"/>
              <a:t>acobian</a:t>
            </a:r>
            <a:endParaRPr lang="ko-KR" alt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직사각형 14"/>
              <p:cNvSpPr/>
              <p:nvPr/>
            </p:nvSpPr>
            <p:spPr>
              <a:xfrm>
                <a:off x="701446" y="4072285"/>
                <a:ext cx="3564244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>
          <p:sp>
            <p:nvSpPr>
              <p:cNvPr id="15" name="직사각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46" y="4072285"/>
                <a:ext cx="3564244" cy="338554"/>
              </a:xfrm>
              <a:prstGeom prst="rect">
                <a:avLst/>
              </a:prstGeom>
              <a:blipFill>
                <a:blip r:embed="rId6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왼쪽 중괄호 35"/>
          <p:cNvSpPr/>
          <p:nvPr/>
        </p:nvSpPr>
        <p:spPr>
          <a:xfrm rot="16200000">
            <a:off x="1950444" y="4303158"/>
            <a:ext cx="251882" cy="358463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7" name="TextBox 36"/>
          <p:cNvSpPr txBox="1"/>
          <p:nvPr/>
        </p:nvSpPr>
        <p:spPr>
          <a:xfrm>
            <a:off x="1096234" y="4715696"/>
            <a:ext cx="54907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Step size selection : Armijo’s backtracking line search method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4267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Project 1</a:t>
            </a:r>
            <a:endParaRPr lang="ko-KR" altLang="en-US" dirty="0">
              <a:latin typeface="+mn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87" y="828675"/>
            <a:ext cx="7439025" cy="5200650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3675017" y="6293172"/>
            <a:ext cx="529916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hlinkClick r:id="rId3"/>
              </a:rPr>
              <a:t>AME 50551 – Introduction To Robotics – Patrick M. </a:t>
            </a:r>
            <a:r>
              <a:rPr lang="en-US" altLang="ko-KR" sz="1400" dirty="0" err="1">
                <a:hlinkClick r:id="rId3"/>
              </a:rPr>
              <a:t>Wensing</a:t>
            </a:r>
            <a:r>
              <a:rPr lang="en-US" altLang="ko-KR" sz="1400" dirty="0">
                <a:hlinkClick r:id="rId3"/>
              </a:rPr>
              <a:t> (nd.edu)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3292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ko-KR" altLang="en-US" dirty="0" smtClean="0">
                <a:latin typeface="+mn-lt"/>
              </a:rPr>
              <a:t>별첨</a:t>
            </a:r>
            <a:r>
              <a:rPr lang="en-US" altLang="ko-KR" dirty="0" smtClean="0">
                <a:latin typeface="+mn-lt"/>
              </a:rPr>
              <a:t>. Kinematic Calibration</a:t>
            </a:r>
            <a:endParaRPr lang="ko-KR" altLang="en-US" dirty="0">
              <a:latin typeface="+mn-lt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429924" y="3115365"/>
            <a:ext cx="271407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hlinkClick r:id="rId2"/>
              </a:rPr>
              <a:t>Course material Robotics 2 (uniroma1.it)</a:t>
            </a:r>
            <a:endParaRPr lang="ko-KR" alt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직사각형 3"/>
              <p:cNvSpPr/>
              <p:nvPr/>
            </p:nvSpPr>
            <p:spPr>
              <a:xfrm>
                <a:off x="353479" y="5107000"/>
                <a:ext cx="459773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HCR’s Improvement by kinematic calibration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5107000"/>
                <a:ext cx="4597734" cy="461665"/>
              </a:xfrm>
              <a:prstGeom prst="rect">
                <a:avLst/>
              </a:prstGeom>
              <a:blipFill>
                <a:blip r:embed="rId3"/>
                <a:stretch>
                  <a:fillRect r="-133"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직사각형 5"/>
              <p:cNvSpPr/>
              <p:nvPr/>
            </p:nvSpPr>
            <p:spPr>
              <a:xfrm>
                <a:off x="353479" y="765490"/>
                <a:ext cx="2911374" cy="41299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Accuracy and repeatability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6" name="직사각형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765490"/>
                <a:ext cx="2911374" cy="412998"/>
              </a:xfrm>
              <a:prstGeom prst="rect">
                <a:avLst/>
              </a:prstGeom>
              <a:blipFill>
                <a:blip r:embed="rId4"/>
                <a:stretch>
                  <a:fillRect r="-628" b="-179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8260" y="1181291"/>
            <a:ext cx="3558620" cy="219242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직사각형 8"/>
              <p:cNvSpPr/>
              <p:nvPr/>
            </p:nvSpPr>
            <p:spPr>
              <a:xfrm>
                <a:off x="353479" y="3398548"/>
                <a:ext cx="42354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Numerical inverse kinematic solution [6]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>
          <p:sp>
            <p:nvSpPr>
              <p:cNvPr id="9" name="직사각형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3398548"/>
                <a:ext cx="4235455" cy="461665"/>
              </a:xfrm>
              <a:prstGeom prst="rect">
                <a:avLst/>
              </a:prstGeom>
              <a:blipFill>
                <a:blip r:embed="rId6"/>
                <a:stretch>
                  <a:fillRect r="-144"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791309" y="5777038"/>
            <a:ext cx="1698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Before calibration</a:t>
            </a:r>
            <a:endParaRPr lang="ko-KR" alt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903122" y="5789002"/>
            <a:ext cx="1698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After calibration</a:t>
            </a:r>
            <a:endParaRPr lang="ko-KR" altLang="en-US" sz="1600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2468126" y="6115592"/>
            <a:ext cx="4347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4685207" y="5838191"/>
            <a:ext cx="4355" cy="6963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3708" y="5492330"/>
            <a:ext cx="1965456" cy="90797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62598" y="6140387"/>
            <a:ext cx="135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1.3~2.2 mm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165875" y="6136265"/>
            <a:ext cx="1355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≤ 0.4 mm</a:t>
            </a:r>
            <a:endParaRPr lang="ko-KR" altLang="en-US" dirty="0"/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7686" y="3891770"/>
            <a:ext cx="5848627" cy="116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2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References</a:t>
            </a:r>
            <a:endParaRPr lang="ko-KR" altLang="en-US" dirty="0">
              <a:latin typeface="+mn-lt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98764" y="1097248"/>
            <a:ext cx="788877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 err="1"/>
              <a:t>Spong</a:t>
            </a:r>
            <a:r>
              <a:rPr lang="en-US" altLang="ko-KR" sz="1600" dirty="0"/>
              <a:t>, M. W., Hutchinson, S., &amp; </a:t>
            </a:r>
            <a:r>
              <a:rPr lang="en-US" altLang="ko-KR" sz="1600" dirty="0" err="1"/>
              <a:t>Vidyasagar</a:t>
            </a:r>
            <a:r>
              <a:rPr lang="en-US" altLang="ko-KR" sz="1600" dirty="0"/>
              <a:t>, M. (2020). </a:t>
            </a:r>
            <a:r>
              <a:rPr lang="en-US" altLang="ko-KR" sz="1600" i="1" dirty="0"/>
              <a:t>Robot modeling and control</a:t>
            </a:r>
            <a:r>
              <a:rPr lang="en-US" altLang="ko-KR" sz="1600" dirty="0"/>
              <a:t>. John Wiley &amp; Sons</a:t>
            </a:r>
            <a:r>
              <a:rPr lang="en-US" altLang="ko-KR" sz="1600" dirty="0" smtClean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 smtClean="0">
              <a:solidFill>
                <a:srgbClr val="333333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sz="1600" dirty="0" err="1"/>
              <a:t>Corke</a:t>
            </a:r>
            <a:r>
              <a:rPr lang="en-US" altLang="ko-KR" sz="1600" dirty="0"/>
              <a:t>, P. I., </a:t>
            </a:r>
            <a:r>
              <a:rPr lang="en-US" altLang="ko-KR" sz="1600" dirty="0" err="1"/>
              <a:t>Jachimczyk</a:t>
            </a:r>
            <a:r>
              <a:rPr lang="en-US" altLang="ko-KR" sz="1600" dirty="0"/>
              <a:t>, W., &amp; </a:t>
            </a:r>
            <a:r>
              <a:rPr lang="en-US" altLang="ko-KR" sz="1600" dirty="0" err="1"/>
              <a:t>Pillat</a:t>
            </a:r>
            <a:r>
              <a:rPr lang="en-US" altLang="ko-KR" sz="1600" dirty="0"/>
              <a:t>, R. (2011). </a:t>
            </a:r>
            <a:r>
              <a:rPr lang="en-US" altLang="ko-KR" sz="1600" i="1" dirty="0"/>
              <a:t>Robotics, vision and control: fundamental algorithms in MATLAB</a:t>
            </a:r>
            <a:r>
              <a:rPr lang="en-US" altLang="ko-KR" sz="1600" dirty="0"/>
              <a:t> (Vol. 73, p. 2). Berlin: Springer</a:t>
            </a:r>
            <a:r>
              <a:rPr lang="en-US" altLang="ko-KR" sz="1600" dirty="0" smtClean="0"/>
              <a:t>.</a:t>
            </a:r>
          </a:p>
          <a:p>
            <a:pPr marL="342900" indent="-342900">
              <a:buFontTx/>
              <a:buAutoNum type="arabicPeriod"/>
            </a:pPr>
            <a:endParaRPr lang="en-US" altLang="ko-KR" sz="1600" dirty="0" smtClean="0"/>
          </a:p>
          <a:p>
            <a:pPr marL="342900" indent="-342900">
              <a:buFontTx/>
              <a:buAutoNum type="arabicPeriod"/>
            </a:pPr>
            <a:r>
              <a:rPr lang="en-US" altLang="ko-KR" sz="1600" dirty="0" smtClean="0"/>
              <a:t>Srinivasan, M. </a:t>
            </a:r>
            <a:r>
              <a:rPr lang="en-US" altLang="ko-KR" sz="1600" dirty="0"/>
              <a:t>(</a:t>
            </a:r>
            <a:r>
              <a:rPr lang="en-US" altLang="ko-KR" sz="1600" dirty="0" smtClean="0"/>
              <a:t>2015). Mechanics and Control of Robots</a:t>
            </a:r>
          </a:p>
          <a:p>
            <a:pPr marL="342900" indent="-342900">
              <a:buFontTx/>
              <a:buAutoNum type="arabicPeriod"/>
            </a:pPr>
            <a:endParaRPr lang="en-US" altLang="ko-KR" sz="1600" dirty="0" smtClean="0"/>
          </a:p>
          <a:p>
            <a:pPr marL="342900" indent="-342900">
              <a:buFontTx/>
              <a:buAutoNum type="arabicPeriod"/>
            </a:pPr>
            <a:r>
              <a:rPr lang="en-US" altLang="ko-KR" sz="1600" dirty="0" err="1" smtClean="0"/>
              <a:t>Wensing</a:t>
            </a:r>
            <a:r>
              <a:rPr lang="en-US" altLang="ko-KR" sz="1600" dirty="0" smtClean="0"/>
              <a:t>, </a:t>
            </a:r>
            <a:r>
              <a:rPr lang="en-US" altLang="ko-KR" sz="1600" dirty="0"/>
              <a:t>P. M. (2017). Introduction to </a:t>
            </a:r>
            <a:r>
              <a:rPr lang="en-US" altLang="ko-KR" sz="1600" dirty="0" smtClean="0"/>
              <a:t>Robotics-Lecture 20: Numerical Inverse Kinematics</a:t>
            </a:r>
          </a:p>
          <a:p>
            <a:pPr marL="342900" indent="-342900">
              <a:buFontTx/>
              <a:buAutoNum type="arabicPeriod"/>
            </a:pPr>
            <a:endParaRPr lang="en-US" altLang="ko-KR" sz="1600" dirty="0" smtClean="0"/>
          </a:p>
          <a:p>
            <a:pPr marL="342900" indent="-342900">
              <a:buFontTx/>
              <a:buAutoNum type="arabicPeriod"/>
            </a:pPr>
            <a:r>
              <a:rPr lang="en-US" altLang="ko-KR" sz="1600" dirty="0" smtClean="0"/>
              <a:t>De Luca, A. </a:t>
            </a:r>
            <a:r>
              <a:rPr lang="en-US" altLang="ko-KR" sz="1600" dirty="0"/>
              <a:t>(</a:t>
            </a:r>
            <a:r>
              <a:rPr lang="en-US" altLang="ko-KR" sz="1600" dirty="0" smtClean="0"/>
              <a:t>2023). Robotics2Introduction </a:t>
            </a:r>
            <a:r>
              <a:rPr lang="en-US" altLang="ko-KR" sz="1600" dirty="0"/>
              <a:t>to Robotics-Lecture </a:t>
            </a:r>
            <a:r>
              <a:rPr lang="en-US" altLang="ko-KR" sz="1600" dirty="0" smtClean="0"/>
              <a:t>01: Calibration</a:t>
            </a:r>
            <a:endParaRPr lang="en-US" altLang="ko-KR" sz="1600" dirty="0"/>
          </a:p>
          <a:p>
            <a:pPr marL="342900" indent="-342900">
              <a:buFontTx/>
              <a:buAutoNum type="arabicPeriod"/>
            </a:pPr>
            <a:endParaRPr lang="en-US" altLang="ko-KR" sz="1600" dirty="0"/>
          </a:p>
          <a:p>
            <a:pPr marL="342900" indent="-342900">
              <a:buFontTx/>
              <a:buAutoNum type="arabicPeriod"/>
            </a:pPr>
            <a:r>
              <a:rPr lang="en-US" altLang="ko-KR" sz="1600" dirty="0" err="1"/>
              <a:t>Nubiola</a:t>
            </a:r>
            <a:r>
              <a:rPr lang="en-US" altLang="ko-KR" sz="1600" dirty="0"/>
              <a:t>, A., &amp; </a:t>
            </a:r>
            <a:r>
              <a:rPr lang="en-US" altLang="ko-KR" sz="1600" dirty="0" err="1"/>
              <a:t>Bonev</a:t>
            </a:r>
            <a:r>
              <a:rPr lang="en-US" altLang="ko-KR" sz="1600" dirty="0"/>
              <a:t>, I. A. (2014). Geometric approach to solving the inverse displacement problem of calibrated decoupled 6R serial robots. </a:t>
            </a:r>
            <a:r>
              <a:rPr lang="en-US" altLang="ko-KR" sz="1600" i="1" dirty="0"/>
              <a:t>Transactions of the Canadian Society for Mechanical Engineering</a:t>
            </a:r>
            <a:r>
              <a:rPr lang="en-US" altLang="ko-KR" sz="1600" dirty="0"/>
              <a:t>, </a:t>
            </a:r>
            <a:r>
              <a:rPr lang="en-US" altLang="ko-KR" sz="1600" i="1" dirty="0"/>
              <a:t>38</a:t>
            </a:r>
            <a:r>
              <a:rPr lang="en-US" altLang="ko-KR" sz="1600" dirty="0"/>
              <a:t>(1), 31-44.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9181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B2EE3E3-BD0C-4EF5-814D-31BB02E1C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132" y="1382422"/>
            <a:ext cx="7772400" cy="2387600"/>
          </a:xfrm>
        </p:spPr>
        <p:txBody>
          <a:bodyPr/>
          <a:lstStyle/>
          <a:p>
            <a:r>
              <a:rPr lang="en-US" altLang="ko-KR" sz="7200" dirty="0">
                <a:latin typeface="+mn-lt"/>
              </a:rPr>
              <a:t>Thank you</a:t>
            </a:r>
            <a:endParaRPr lang="ko-KR" altLang="en-US" sz="7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303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10019</TotalTime>
  <Words>319</Words>
  <Application>Microsoft Office PowerPoint</Application>
  <PresentationFormat>화면 슬라이드 쇼(4:3)</PresentationFormat>
  <Paragraphs>91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Calibri (본문)</vt:lpstr>
      <vt:lpstr>맑은 고딕</vt:lpstr>
      <vt:lpstr>Arial</vt:lpstr>
      <vt:lpstr>Calibri</vt:lpstr>
      <vt:lpstr>Cambria Math</vt:lpstr>
      <vt:lpstr>Times New Roman</vt:lpstr>
      <vt:lpstr>Office 테마</vt:lpstr>
      <vt:lpstr>Robot Forward/Inverse Kinematics</vt:lpstr>
      <vt:lpstr>Kinematic Chain</vt:lpstr>
      <vt:lpstr>A-2-Link Robot(SE(2))</vt:lpstr>
      <vt:lpstr>Hanwha Collaborative Robot</vt:lpstr>
      <vt:lpstr>Inverse kinematics – Numerical Solution</vt:lpstr>
      <vt:lpstr>Project 1</vt:lpstr>
      <vt:lpstr>별첨. Kinematic Calibration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Geniuschw_송창우</dc:creator>
  <cp:lastModifiedBy>HANHWA</cp:lastModifiedBy>
  <cp:revision>389</cp:revision>
  <dcterms:created xsi:type="dcterms:W3CDTF">2017-03-09T08:42:38Z</dcterms:created>
  <dcterms:modified xsi:type="dcterms:W3CDTF">2023-11-19T23:07:27Z</dcterms:modified>
</cp:coreProperties>
</file>