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7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102" y="7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9E87B-1729-4E7F-922B-C14D0153C4CF}" type="datetimeFigureOut">
              <a:rPr lang="ko-KR" altLang="en-US" smtClean="0"/>
              <a:t>2023-05-24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D5A57-D7E3-4281-B1D0-5EB3D1C541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9232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9E87B-1729-4E7F-922B-C14D0153C4CF}" type="datetimeFigureOut">
              <a:rPr lang="ko-KR" altLang="en-US" smtClean="0"/>
              <a:t>2023-05-24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D5A57-D7E3-4281-B1D0-5EB3D1C541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5537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9E87B-1729-4E7F-922B-C14D0153C4CF}" type="datetimeFigureOut">
              <a:rPr lang="ko-KR" altLang="en-US" smtClean="0"/>
              <a:t>2023-05-24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D5A57-D7E3-4281-B1D0-5EB3D1C541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6189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9E87B-1729-4E7F-922B-C14D0153C4CF}" type="datetimeFigureOut">
              <a:rPr lang="ko-KR" altLang="en-US" smtClean="0"/>
              <a:t>2023-05-24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D5A57-D7E3-4281-B1D0-5EB3D1C541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8208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9E87B-1729-4E7F-922B-C14D0153C4CF}" type="datetimeFigureOut">
              <a:rPr lang="ko-KR" altLang="en-US" smtClean="0"/>
              <a:t>2023-05-24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D5A57-D7E3-4281-B1D0-5EB3D1C541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0051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9E87B-1729-4E7F-922B-C14D0153C4CF}" type="datetimeFigureOut">
              <a:rPr lang="ko-KR" altLang="en-US" smtClean="0"/>
              <a:t>2023-05-24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D5A57-D7E3-4281-B1D0-5EB3D1C541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870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9E87B-1729-4E7F-922B-C14D0153C4CF}" type="datetimeFigureOut">
              <a:rPr lang="ko-KR" altLang="en-US" smtClean="0"/>
              <a:t>2023-05-24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D5A57-D7E3-4281-B1D0-5EB3D1C541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2221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9E87B-1729-4E7F-922B-C14D0153C4CF}" type="datetimeFigureOut">
              <a:rPr lang="ko-KR" altLang="en-US" smtClean="0"/>
              <a:t>2023-05-24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D5A57-D7E3-4281-B1D0-5EB3D1C541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0871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9E87B-1729-4E7F-922B-C14D0153C4CF}" type="datetimeFigureOut">
              <a:rPr lang="ko-KR" altLang="en-US" smtClean="0"/>
              <a:t>2023-05-24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D5A57-D7E3-4281-B1D0-5EB3D1C541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0980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9E87B-1729-4E7F-922B-C14D0153C4CF}" type="datetimeFigureOut">
              <a:rPr lang="ko-KR" altLang="en-US" smtClean="0"/>
              <a:t>2023-05-24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D5A57-D7E3-4281-B1D0-5EB3D1C541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2470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9E87B-1729-4E7F-922B-C14D0153C4CF}" type="datetimeFigureOut">
              <a:rPr lang="ko-KR" altLang="en-US" smtClean="0"/>
              <a:t>2023-05-24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D5A57-D7E3-4281-B1D0-5EB3D1C541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8134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C9E87B-1729-4E7F-922B-C14D0153C4CF}" type="datetimeFigureOut">
              <a:rPr lang="ko-KR" altLang="en-US" smtClean="0"/>
              <a:t>2023-05-24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3D5A57-D7E3-4281-B1D0-5EB3D1C541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4163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image" Target="../media/image4.png"/><Relationship Id="rId7" Type="http://schemas.openxmlformats.org/officeDocument/2006/relationships/image" Target="../media/image2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.wmf"/><Relationship Id="rId10" Type="http://schemas.openxmlformats.org/officeDocument/2006/relationships/image" Target="../media/image5.png"/><Relationship Id="rId4" Type="http://schemas.openxmlformats.org/officeDocument/2006/relationships/oleObject" Target="../embeddings/oleObject1.bin"/><Relationship Id="rId9" Type="http://schemas.openxmlformats.org/officeDocument/2006/relationships/image" Target="../media/image3.w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10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vmlDrawing" Target="../drawings/vmlDrawing3.vml"/><Relationship Id="rId6" Type="http://schemas.openxmlformats.org/officeDocument/2006/relationships/image" Target="../media/image50.png"/><Relationship Id="rId11" Type="http://schemas.openxmlformats.org/officeDocument/2006/relationships/image" Target="../media/image100.png"/><Relationship Id="rId24" Type="http://schemas.openxmlformats.org/officeDocument/2006/relationships/image" Target="../media/image23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9.wmf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9" Type="http://schemas.openxmlformats.org/officeDocument/2006/relationships/image" Target="../media/image80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oleObject" Target="../embeddings/oleObject5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282608" y="198097"/>
            <a:ext cx="1261884" cy="4385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  <a:tabLst>
                <a:tab pos="5562600" algn="l"/>
                <a:tab pos="6007100" algn="l"/>
              </a:tabLst>
            </a:pPr>
            <a:r>
              <a:rPr lang="en-US" altLang="ko-KR" sz="1500" b="1" dirty="0" smtClean="0">
                <a:solidFill>
                  <a:prstClr val="black"/>
                </a:solidFill>
                <a:latin typeface="+mn-ea"/>
              </a:rPr>
              <a:t>12 3</a:t>
            </a:r>
            <a:r>
              <a:rPr lang="ko-KR" altLang="en-US" sz="1500" b="1" dirty="0" smtClean="0">
                <a:solidFill>
                  <a:prstClr val="black"/>
                </a:solidFill>
                <a:latin typeface="+mn-ea"/>
              </a:rPr>
              <a:t>세대</a:t>
            </a:r>
            <a:endParaRPr lang="en-US" altLang="ko-KR" sz="1500" b="1" dirty="0">
              <a:solidFill>
                <a:prstClr val="black"/>
              </a:solidFill>
              <a:latin typeface="+mn-ea"/>
            </a:endParaRPr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0690159"/>
              </p:ext>
            </p:extLst>
          </p:nvPr>
        </p:nvGraphicFramePr>
        <p:xfrm>
          <a:off x="7055047" y="1662823"/>
          <a:ext cx="4325379" cy="212697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645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6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09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07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7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1074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0385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Joint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7000" marR="27000" marT="27000" marB="27000" anchor="ctr"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l-GR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Θ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(°)</a:t>
                      </a:r>
                    </a:p>
                  </a:txBody>
                  <a:tcPr marL="27000" marR="27000" marT="27000" marB="270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offset(°)</a:t>
                      </a:r>
                    </a:p>
                  </a:txBody>
                  <a:tcPr marL="27000" marR="27000" marT="27000" marB="27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d[mm]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marL="27000" marR="27000" marT="27000" marB="270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a[mm]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marL="27000" marR="27000" marT="27000" marB="27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α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(°)</a:t>
                      </a:r>
                    </a:p>
                  </a:txBody>
                  <a:tcPr marL="27000" marR="27000" marT="27000" marB="27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85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q1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7000" marR="27000" marT="27000" marB="270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7000" marR="27000" marT="27000" marB="27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186</a:t>
                      </a:r>
                      <a:endParaRPr lang="ko-KR" alt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7000" marR="27000" marT="27000" marB="270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7000" marR="27000" marT="27000" marB="27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90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7000" marR="27000" marT="27000" marB="27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85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q2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7000" marR="27000" marT="27000" marB="270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-90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7000" marR="27000" marT="27000" marB="27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7000" marR="27000" marT="27000" marB="270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-730</a:t>
                      </a:r>
                      <a:endParaRPr lang="ko-KR" alt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7000" marR="27000" marT="27000" marB="27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7000" marR="27000" marT="27000" marB="27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85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q3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7000" marR="27000" marT="27000" marB="270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</a:p>
                  </a:txBody>
                  <a:tcPr marL="27000" marR="27000" marT="27000" marB="27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</a:p>
                  </a:txBody>
                  <a:tcPr marL="27000" marR="27000" marT="27000" marB="270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-538.5</a:t>
                      </a:r>
                      <a:endParaRPr lang="ko-KR" alt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7000" marR="27000" marT="27000" marB="27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7000" marR="27000" marT="27000" marB="27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385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7000" marR="27000" marT="27000" marB="27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q4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7000" marR="27000" marT="27000" marB="270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-90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7000" marR="27000" marT="27000" marB="27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185</a:t>
                      </a:r>
                      <a:endParaRPr lang="ko-KR" alt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7000" marR="27000" marT="27000" marB="270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7000" marR="27000" marT="27000" marB="27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90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7000" marR="27000" marT="27000" marB="27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385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7000" marR="27000" marT="27000" marB="27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q5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7000" marR="27000" marT="27000" marB="270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7000" marR="27000" marT="27000" marB="27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151.5</a:t>
                      </a:r>
                      <a:endParaRPr lang="ko-KR" alt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7000" marR="27000" marT="27000" marB="270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7000" marR="27000" marT="27000" marB="27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-90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7000" marR="27000" marT="27000" marB="27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385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7000" marR="27000" marT="27000" marB="27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q6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7000" marR="27000" marT="27000" marB="270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7000" marR="27000" marT="27000" marB="27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137.5</a:t>
                      </a:r>
                      <a:endParaRPr lang="ko-KR" alt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7000" marR="27000" marT="27000" marB="270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7000" marR="27000" marT="27000" marB="27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7000" marR="27000" marT="27000" marB="27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직사각형 9"/>
          <p:cNvSpPr/>
          <p:nvPr/>
        </p:nvSpPr>
        <p:spPr>
          <a:xfrm>
            <a:off x="7003712" y="1320481"/>
            <a:ext cx="3546484" cy="3520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14313" indent="-214313">
              <a:lnSpc>
                <a:spcPct val="150000"/>
              </a:lnSpc>
              <a:buFont typeface="Wingdings" pitchFamily="2" charset="2"/>
              <a:buChar char="Ø"/>
              <a:tabLst>
                <a:tab pos="4171950" algn="l"/>
                <a:tab pos="4505325" algn="l"/>
              </a:tabLst>
            </a:pPr>
            <a:r>
              <a:rPr lang="en-US" altLang="ko-KR" sz="1125" b="1" dirty="0">
                <a:solidFill>
                  <a:prstClr val="black"/>
                </a:solidFill>
                <a:latin typeface="+mn-ea"/>
              </a:rPr>
              <a:t>DH parameters of HCR12B (1420mm version)</a:t>
            </a: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3114" y="1018309"/>
            <a:ext cx="1987262" cy="4935683"/>
          </a:xfrm>
          <a:prstGeom prst="rect">
            <a:avLst/>
          </a:prstGeom>
        </p:spPr>
      </p:pic>
      <p:graphicFrame>
        <p:nvGraphicFramePr>
          <p:cNvPr id="12" name="개체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0081294"/>
              </p:ext>
            </p:extLst>
          </p:nvPr>
        </p:nvGraphicFramePr>
        <p:xfrm>
          <a:off x="7311807" y="4263376"/>
          <a:ext cx="875739" cy="7389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워크시트" showAsIcon="1" r:id="rId4" imgW="914400" imgH="771480" progId="Excel.Sheet.12">
                  <p:embed/>
                </p:oleObj>
              </mc:Choice>
              <mc:Fallback>
                <p:oleObj name="워크시트" showAsIcon="1" r:id="rId4" imgW="914400" imgH="771480" progId="Excel.Sheet.12">
                  <p:embed/>
                  <p:pic>
                    <p:nvPicPr>
                      <p:cNvPr id="5" name="개체 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311807" y="4263376"/>
                        <a:ext cx="875739" cy="7389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개체 12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1918643"/>
              </p:ext>
            </p:extLst>
          </p:nvPr>
        </p:nvGraphicFramePr>
        <p:xfrm>
          <a:off x="8771191" y="4230756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name="프레젠테이션" showAsIcon="1" r:id="rId6" imgW="914400" imgH="771480" progId="PowerPoint.Show.12">
                  <p:embed/>
                </p:oleObj>
              </mc:Choice>
              <mc:Fallback>
                <p:oleObj name="프레젠테이션" showAsIcon="1" r:id="rId6" imgW="914400" imgH="771480" progId="PowerPoint.Show.12">
                  <p:embed/>
                  <p:pic>
                    <p:nvPicPr>
                      <p:cNvPr id="7" name="개체 6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771191" y="4230756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개체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3645816"/>
              </p:ext>
            </p:extLst>
          </p:nvPr>
        </p:nvGraphicFramePr>
        <p:xfrm>
          <a:off x="8771191" y="5141250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워크시트" showAsIcon="1" r:id="rId8" imgW="914400" imgH="771480" progId="Excel.Sheet.12">
                  <p:embed/>
                </p:oleObj>
              </mc:Choice>
              <mc:Fallback>
                <p:oleObj name="워크시트" showAsIcon="1" r:id="rId8" imgW="914400" imgH="771480" progId="Excel.Sheet.12">
                  <p:embed/>
                  <p:pic>
                    <p:nvPicPr>
                      <p:cNvPr id="8" name="개체 7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771191" y="5141250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그림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8733" y="966355"/>
            <a:ext cx="1928813" cy="498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1112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81916"/>
            <a:ext cx="3429000" cy="537729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2012" y="636680"/>
            <a:ext cx="4308077" cy="5667768"/>
          </a:xfrm>
          <a:prstGeom prst="rect">
            <a:avLst/>
          </a:prstGeom>
        </p:spPr>
      </p:pic>
      <p:graphicFrame>
        <p:nvGraphicFramePr>
          <p:cNvPr id="33" name="표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9668528"/>
              </p:ext>
            </p:extLst>
          </p:nvPr>
        </p:nvGraphicFramePr>
        <p:xfrm>
          <a:off x="6703925" y="2028894"/>
          <a:ext cx="4591071" cy="17841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6854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11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13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44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4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5440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317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Joint</a:t>
                      </a:r>
                      <a:endParaRPr lang="ko-KR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l-GR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Θ</a:t>
                      </a:r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(°)</a:t>
                      </a:r>
                      <a:endParaRPr lang="en-US" altLang="ko-KR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offset(°)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 smtClean="0">
                          <a:latin typeface="+mn-ea"/>
                          <a:ea typeface="+mn-ea"/>
                        </a:rPr>
                        <a:t>d[mm]</a:t>
                      </a:r>
                      <a:endParaRPr lang="ko-KR" altLang="en-US" sz="12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 smtClean="0">
                          <a:latin typeface="+mn-ea"/>
                          <a:ea typeface="+mn-ea"/>
                        </a:rPr>
                        <a:t>a[mm]</a:t>
                      </a:r>
                      <a:endParaRPr lang="ko-KR" altLang="en-US" sz="12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α</a:t>
                      </a:r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(°)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17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ko-KR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q1</a:t>
                      </a:r>
                      <a:endParaRPr lang="ko-KR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ko-KR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201</a:t>
                      </a:r>
                      <a:endParaRPr lang="ko-KR" alt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ko-KR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90</a:t>
                      </a:r>
                      <a:endParaRPr lang="ko-KR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17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en-US" altLang="ko-KR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q2</a:t>
                      </a:r>
                      <a:endParaRPr lang="ko-KR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-90</a:t>
                      </a:r>
                      <a:endParaRPr lang="ko-KR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ko-KR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-730</a:t>
                      </a:r>
                      <a:endParaRPr lang="ko-KR" alt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ko-KR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7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en-US" altLang="ko-KR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q3</a:t>
                      </a:r>
                      <a:endParaRPr lang="ko-KR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</a:p>
                  </a:txBody>
                  <a:tcPr marL="36000" marR="36000" marT="36000" marB="360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-540.5</a:t>
                      </a:r>
                      <a:endParaRPr lang="ko-KR" alt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ko-KR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7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lang="ko-KR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q4</a:t>
                      </a:r>
                      <a:endParaRPr lang="ko-KR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-90</a:t>
                      </a:r>
                      <a:endParaRPr lang="ko-KR" altLang="en-US" sz="1200" b="0" i="0" u="none" strike="noStrike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183</a:t>
                      </a:r>
                      <a:endParaRPr lang="ko-KR" altLang="en-US" sz="1200" b="0" i="0" u="none" strike="noStrike" dirty="0" smtClean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ko-KR" altLang="en-US" sz="1200" b="0" i="0" u="none" strike="noStrike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90</a:t>
                      </a:r>
                      <a:endParaRPr lang="ko-KR" altLang="en-US" sz="1200" b="0" i="0" u="none" strike="noStrike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317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ko-KR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q5</a:t>
                      </a:r>
                      <a:endParaRPr lang="ko-KR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ko-KR" altLang="en-US" sz="1200" b="0" i="0" u="none" strike="noStrike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149.5</a:t>
                      </a:r>
                      <a:endParaRPr lang="ko-KR" altLang="en-US" sz="1200" b="0" i="0" u="none" strike="noStrike" dirty="0" smtClean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ko-KR" altLang="en-US" sz="1200" b="0" i="0" u="none" strike="noStrike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-90</a:t>
                      </a:r>
                      <a:endParaRPr lang="ko-KR" altLang="en-US" sz="1200" b="0" i="0" u="none" strike="noStrike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317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lang="ko-KR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q6</a:t>
                      </a:r>
                      <a:endParaRPr lang="ko-KR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ko-KR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139.5</a:t>
                      </a:r>
                      <a:endParaRPr lang="ko-KR" alt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ko-KR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ko-KR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7" name="직사각형 36"/>
          <p:cNvSpPr/>
          <p:nvPr/>
        </p:nvSpPr>
        <p:spPr>
          <a:xfrm>
            <a:off x="6635479" y="1572435"/>
            <a:ext cx="4538807" cy="4385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  <a:tabLst>
                <a:tab pos="5562600" algn="l"/>
                <a:tab pos="6007100" algn="l"/>
              </a:tabLst>
            </a:pPr>
            <a:r>
              <a:rPr lang="en-US" altLang="ko-KR" sz="1500" b="1" dirty="0">
                <a:solidFill>
                  <a:prstClr val="black"/>
                </a:solidFill>
                <a:latin typeface="+mn-ea"/>
              </a:rPr>
              <a:t>DH parameters of </a:t>
            </a:r>
            <a:r>
              <a:rPr lang="en-US" altLang="ko-KR" sz="1500" b="1" dirty="0" smtClean="0">
                <a:solidFill>
                  <a:prstClr val="black"/>
                </a:solidFill>
                <a:latin typeface="+mn-ea"/>
              </a:rPr>
              <a:t>HCR14 (1420mm version)</a:t>
            </a:r>
            <a:endParaRPr lang="en-US" altLang="ko-KR" sz="1500" b="1" dirty="0">
              <a:solidFill>
                <a:prstClr val="black"/>
              </a:solidFill>
              <a:latin typeface="+mn-ea"/>
            </a:endParaRPr>
          </a:p>
        </p:txBody>
      </p:sp>
      <p:graphicFrame>
        <p:nvGraphicFramePr>
          <p:cNvPr id="7" name="개체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6621751"/>
              </p:ext>
            </p:extLst>
          </p:nvPr>
        </p:nvGraphicFramePr>
        <p:xfrm>
          <a:off x="6703925" y="3964363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4" name="워크시트" showAsIcon="1" r:id="rId5" imgW="914400" imgH="771480" progId="Excel.Sheet.12">
                  <p:embed/>
                </p:oleObj>
              </mc:Choice>
              <mc:Fallback>
                <p:oleObj name="워크시트" showAsIcon="1" r:id="rId5" imgW="914400" imgH="77148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703925" y="3964363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직사각형 7"/>
          <p:cNvSpPr/>
          <p:nvPr/>
        </p:nvSpPr>
        <p:spPr>
          <a:xfrm>
            <a:off x="282608" y="198097"/>
            <a:ext cx="1197764" cy="4385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  <a:tabLst>
                <a:tab pos="5562600" algn="l"/>
                <a:tab pos="6007100" algn="l"/>
              </a:tabLst>
            </a:pPr>
            <a:r>
              <a:rPr lang="en-US" altLang="ko-KR" sz="1500" b="1" dirty="0" smtClean="0">
                <a:solidFill>
                  <a:prstClr val="black"/>
                </a:solidFill>
                <a:latin typeface="+mn-ea"/>
              </a:rPr>
              <a:t>DV </a:t>
            </a:r>
            <a:r>
              <a:rPr lang="ko-KR" altLang="en-US" sz="1500" b="1" dirty="0" smtClean="0">
                <a:solidFill>
                  <a:prstClr val="black"/>
                </a:solidFill>
                <a:latin typeface="+mn-ea"/>
              </a:rPr>
              <a:t>단계</a:t>
            </a:r>
            <a:endParaRPr lang="en-US" altLang="ko-KR" sz="1500" b="1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48270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" name="표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9273923"/>
              </p:ext>
            </p:extLst>
          </p:nvPr>
        </p:nvGraphicFramePr>
        <p:xfrm>
          <a:off x="6703925" y="2028894"/>
          <a:ext cx="4591071" cy="17841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6854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11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13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44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4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5440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317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Joint</a:t>
                      </a:r>
                      <a:endParaRPr lang="ko-KR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l-GR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Θ</a:t>
                      </a:r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(°)</a:t>
                      </a:r>
                      <a:endParaRPr lang="en-US" altLang="ko-KR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offset(°)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 smtClean="0">
                          <a:latin typeface="+mn-ea"/>
                          <a:ea typeface="+mn-ea"/>
                        </a:rPr>
                        <a:t>d[mm]</a:t>
                      </a:r>
                      <a:endParaRPr lang="ko-KR" altLang="en-US" sz="12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 smtClean="0">
                          <a:latin typeface="+mn-ea"/>
                          <a:ea typeface="+mn-ea"/>
                        </a:rPr>
                        <a:t>a[mm]</a:t>
                      </a:r>
                      <a:endParaRPr lang="ko-KR" altLang="en-US" sz="12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α</a:t>
                      </a:r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(°)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17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ko-KR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q1</a:t>
                      </a:r>
                      <a:endParaRPr lang="ko-KR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ko-KR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207</a:t>
                      </a:r>
                      <a:endParaRPr lang="ko-KR" alt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ko-KR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90</a:t>
                      </a:r>
                      <a:endParaRPr lang="ko-KR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17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en-US" altLang="ko-KR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q2</a:t>
                      </a:r>
                      <a:endParaRPr lang="ko-KR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-90</a:t>
                      </a:r>
                      <a:endParaRPr lang="ko-KR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ko-KR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-730</a:t>
                      </a:r>
                      <a:endParaRPr lang="ko-KR" alt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ko-KR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7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en-US" altLang="ko-KR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q3</a:t>
                      </a:r>
                      <a:endParaRPr lang="ko-KR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</a:p>
                  </a:txBody>
                  <a:tcPr marL="36000" marR="36000" marT="36000" marB="360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-538.8</a:t>
                      </a:r>
                      <a:endParaRPr lang="ko-KR" alt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ko-KR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7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lang="ko-KR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q4</a:t>
                      </a:r>
                      <a:endParaRPr lang="ko-KR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-90</a:t>
                      </a:r>
                      <a:endParaRPr lang="ko-KR" altLang="en-US" sz="1200" b="0" i="0" u="none" strike="noStrike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184.7</a:t>
                      </a:r>
                      <a:endParaRPr lang="ko-KR" altLang="en-US" sz="1200" b="0" i="0" u="none" strike="noStrike" dirty="0" smtClean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ko-KR" altLang="en-US" sz="1200" b="0" i="0" u="none" strike="noStrike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90</a:t>
                      </a:r>
                      <a:endParaRPr lang="ko-KR" altLang="en-US" sz="1200" b="0" i="0" u="none" strike="noStrike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317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ko-KR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q5</a:t>
                      </a:r>
                      <a:endParaRPr lang="ko-KR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ko-KR" altLang="en-US" sz="1200" b="0" i="0" u="none" strike="noStrike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151.2</a:t>
                      </a:r>
                      <a:endParaRPr lang="ko-KR" altLang="en-US" sz="1200" b="0" i="0" u="none" strike="noStrike" dirty="0" smtClean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ko-KR" altLang="en-US" sz="1200" b="0" i="0" u="none" strike="noStrike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-90</a:t>
                      </a:r>
                      <a:endParaRPr lang="ko-KR" altLang="en-US" sz="1200" b="0" i="0" u="none" strike="noStrike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317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lang="ko-KR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q6</a:t>
                      </a:r>
                      <a:endParaRPr lang="ko-KR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ko-KR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141.2</a:t>
                      </a:r>
                      <a:endParaRPr lang="ko-KR" alt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ko-KR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ko-KR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7" name="직사각형 36"/>
          <p:cNvSpPr/>
          <p:nvPr/>
        </p:nvSpPr>
        <p:spPr>
          <a:xfrm>
            <a:off x="6635479" y="1572435"/>
            <a:ext cx="4538807" cy="4385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  <a:tabLst>
                <a:tab pos="5562600" algn="l"/>
                <a:tab pos="6007100" algn="l"/>
              </a:tabLst>
            </a:pPr>
            <a:r>
              <a:rPr lang="en-US" altLang="ko-KR" sz="1500" b="1" dirty="0">
                <a:solidFill>
                  <a:prstClr val="black"/>
                </a:solidFill>
                <a:latin typeface="+mn-ea"/>
              </a:rPr>
              <a:t>DH parameters of </a:t>
            </a:r>
            <a:r>
              <a:rPr lang="en-US" altLang="ko-KR" sz="1500" b="1" dirty="0" smtClean="0">
                <a:solidFill>
                  <a:prstClr val="black"/>
                </a:solidFill>
                <a:latin typeface="+mn-ea"/>
              </a:rPr>
              <a:t>HCR14 (1420mm version)</a:t>
            </a:r>
            <a:endParaRPr lang="en-US" altLang="ko-KR" sz="1500" b="1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282608" y="198097"/>
            <a:ext cx="1173719" cy="4385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  <a:tabLst>
                <a:tab pos="5562600" algn="l"/>
                <a:tab pos="6007100" algn="l"/>
              </a:tabLst>
            </a:pPr>
            <a:r>
              <a:rPr lang="en-US" altLang="ko-KR" sz="1500" b="1" dirty="0" smtClean="0">
                <a:solidFill>
                  <a:prstClr val="black"/>
                </a:solidFill>
                <a:latin typeface="+mn-ea"/>
              </a:rPr>
              <a:t>PV </a:t>
            </a:r>
            <a:r>
              <a:rPr lang="ko-KR" altLang="en-US" sz="1500" b="1" dirty="0" smtClean="0">
                <a:solidFill>
                  <a:prstClr val="black"/>
                </a:solidFill>
                <a:latin typeface="+mn-ea"/>
              </a:rPr>
              <a:t>단계</a:t>
            </a:r>
            <a:endParaRPr lang="en-US" altLang="ko-KR" sz="1500" b="1" dirty="0">
              <a:solidFill>
                <a:prstClr val="black"/>
              </a:solidFill>
              <a:latin typeface="+mn-ea"/>
            </a:endParaRPr>
          </a:p>
        </p:txBody>
      </p:sp>
      <p:grpSp>
        <p:nvGrpSpPr>
          <p:cNvPr id="107" name="그룹 106"/>
          <p:cNvGrpSpPr/>
          <p:nvPr/>
        </p:nvGrpSpPr>
        <p:grpSpPr>
          <a:xfrm>
            <a:off x="2619389" y="463894"/>
            <a:ext cx="3333543" cy="6300799"/>
            <a:chOff x="1676996" y="533152"/>
            <a:chExt cx="3338520" cy="6341791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76996" y="633086"/>
              <a:ext cx="3035161" cy="5879671"/>
            </a:xfrm>
            <a:prstGeom prst="rect">
              <a:avLst/>
            </a:prstGeom>
          </p:spPr>
        </p:pic>
        <p:cxnSp>
          <p:nvCxnSpPr>
            <p:cNvPr id="21" name="직선 화살표 연결선 20"/>
            <p:cNvCxnSpPr/>
            <p:nvPr/>
          </p:nvCxnSpPr>
          <p:spPr bwMode="auto">
            <a:xfrm flipH="1">
              <a:off x="3975208" y="6458983"/>
              <a:ext cx="251502" cy="221599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2" name="직선 화살표 연결선 21"/>
            <p:cNvCxnSpPr/>
            <p:nvPr/>
          </p:nvCxnSpPr>
          <p:spPr bwMode="auto">
            <a:xfrm>
              <a:off x="4226709" y="6454220"/>
              <a:ext cx="392916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/>
                <p:cNvSpPr txBox="1"/>
                <p:nvPr/>
              </p:nvSpPr>
              <p:spPr>
                <a:xfrm>
                  <a:off x="3824078" y="6597944"/>
                  <a:ext cx="324511" cy="276999"/>
                </a:xfrm>
                <a:prstGeom prst="rect">
                  <a:avLst/>
                </a:prstGeom>
              </p:spPr>
              <p:txBody>
                <a:bodyPr wrap="none" lIns="0" tIns="0" bIns="0" rtlCol="0">
                  <a:spAutoFit/>
                </a:bodyPr>
                <a:lstStyle/>
                <a:p>
                  <a:pPr marR="0" algn="l" defTabSz="912813" rtl="0" eaLnBrk="0" fontAlgn="base" latinLnBrk="0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5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500" i="1" ker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500" i="1" ker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ko-KR" altLang="en-US" sz="1500" i="1" kern="0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3" name="TextBox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24078" y="6597944"/>
                  <a:ext cx="324511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344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/>
                <p:cNvSpPr txBox="1"/>
                <p:nvPr/>
              </p:nvSpPr>
              <p:spPr>
                <a:xfrm>
                  <a:off x="4664522" y="6317460"/>
                  <a:ext cx="350994" cy="276999"/>
                </a:xfrm>
                <a:prstGeom prst="rect">
                  <a:avLst/>
                </a:prstGeom>
              </p:spPr>
              <p:txBody>
                <a:bodyPr wrap="none" lIns="0" tIns="0" bIns="0" rtlCol="0">
                  <a:spAutoFit/>
                </a:bodyPr>
                <a:lstStyle/>
                <a:p>
                  <a:pPr marR="0" algn="l" defTabSz="912813" rtl="0" eaLnBrk="0" fontAlgn="base" latinLnBrk="0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500" b="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altLang="ko-KR" sz="1500" b="0" i="1" kern="0" smtClean="0">
                                <a:solidFill>
                                  <a:schemeClr val="tx1"/>
                                </a:solidFill>
                                <a:latin typeface="Cambria Math"/>
                                <a:ea typeface="+mn-ea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sz="1500" b="0" i="1" kern="0" smtClean="0">
                                <a:solidFill>
                                  <a:schemeClr val="tx1"/>
                                </a:solidFill>
                                <a:latin typeface="Cambria Math"/>
                                <a:ea typeface="+mn-ea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ko-KR" altLang="en-US" sz="1500" b="0" kern="0" dirty="0" smtClean="0">
                    <a:solidFill>
                      <a:schemeClr val="tx1"/>
                    </a:solidFill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24" name="TextBox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64522" y="6317460"/>
                  <a:ext cx="350994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3125" b="-8333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/>
                <p:cNvSpPr txBox="1"/>
                <p:nvPr/>
              </p:nvSpPr>
              <p:spPr>
                <a:xfrm>
                  <a:off x="4478211" y="5925099"/>
                  <a:ext cx="337720" cy="276999"/>
                </a:xfrm>
                <a:prstGeom prst="rect">
                  <a:avLst/>
                </a:prstGeom>
              </p:spPr>
              <p:txBody>
                <a:bodyPr wrap="none" lIns="0" tIns="0" bIns="0" rtlCol="0">
                  <a:spAutoFit/>
                </a:bodyPr>
                <a:lstStyle/>
                <a:p>
                  <a:pPr marR="0" algn="l" defTabSz="912813" rtl="0" eaLnBrk="0" fontAlgn="base" latinLnBrk="0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500" b="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altLang="ko-KR" sz="1500" b="0" i="1" kern="0" smtClean="0">
                                <a:solidFill>
                                  <a:schemeClr val="tx1"/>
                                </a:solidFill>
                                <a:latin typeface="Cambria Math"/>
                                <a:ea typeface="+mn-ea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sz="1500" b="0" i="1" kern="0" smtClean="0">
                                <a:solidFill>
                                  <a:schemeClr val="tx1"/>
                                </a:solidFill>
                                <a:latin typeface="Cambria Math"/>
                                <a:ea typeface="+mn-ea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ko-KR" altLang="en-US" sz="1500" b="0" kern="0" dirty="0" smtClean="0">
                    <a:solidFill>
                      <a:schemeClr val="tx1"/>
                    </a:solidFill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25" name="TextBox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78211" y="5925099"/>
                  <a:ext cx="337720" cy="27699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" name="직선 화살표 연결선 25"/>
            <p:cNvCxnSpPr/>
            <p:nvPr/>
          </p:nvCxnSpPr>
          <p:spPr bwMode="auto">
            <a:xfrm flipV="1">
              <a:off x="4226709" y="6106571"/>
              <a:ext cx="0" cy="352412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44" name="직선 화살표 연결선 43"/>
            <p:cNvCxnSpPr/>
            <p:nvPr/>
          </p:nvCxnSpPr>
          <p:spPr bwMode="auto">
            <a:xfrm flipH="1">
              <a:off x="3854558" y="5760483"/>
              <a:ext cx="372151" cy="5317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46" name="직선 화살표 연결선 45"/>
            <p:cNvCxnSpPr/>
            <p:nvPr/>
          </p:nvCxnSpPr>
          <p:spPr bwMode="auto">
            <a:xfrm flipV="1">
              <a:off x="4226709" y="5403850"/>
              <a:ext cx="0" cy="356633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/>
                <p:cNvSpPr txBox="1"/>
                <p:nvPr/>
              </p:nvSpPr>
              <p:spPr>
                <a:xfrm>
                  <a:off x="3741384" y="5897400"/>
                  <a:ext cx="299249" cy="276999"/>
                </a:xfrm>
                <a:prstGeom prst="rect">
                  <a:avLst/>
                </a:prstGeom>
              </p:spPr>
              <p:txBody>
                <a:bodyPr wrap="square" lIns="0" tIns="0" bIns="0" rtlCol="0">
                  <a:spAutoFit/>
                </a:bodyPr>
                <a:lstStyle/>
                <a:p>
                  <a:pPr marR="0" algn="l" defTabSz="912813" rtl="0" eaLnBrk="0" fontAlgn="base" latinLnBrk="0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500" b="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altLang="ko-KR" sz="1500" b="0" i="1" kern="0" smtClean="0">
                                <a:solidFill>
                                  <a:schemeClr val="tx1"/>
                                </a:solidFill>
                                <a:latin typeface="Cambria Math"/>
                                <a:ea typeface="+mn-ea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500" b="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sz="1500" b="0" kern="0" dirty="0" smtClean="0">
                    <a:solidFill>
                      <a:schemeClr val="tx1"/>
                    </a:solidFill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49" name="TextBox 4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41384" y="5897400"/>
                  <a:ext cx="299249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740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1" name="직선 화살표 연결선 50"/>
            <p:cNvCxnSpPr/>
            <p:nvPr/>
          </p:nvCxnSpPr>
          <p:spPr bwMode="auto">
            <a:xfrm flipH="1">
              <a:off x="3975776" y="5765303"/>
              <a:ext cx="251502" cy="221599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/>
                <p:cNvSpPr txBox="1"/>
                <p:nvPr/>
              </p:nvSpPr>
              <p:spPr>
                <a:xfrm>
                  <a:off x="4040633" y="5018792"/>
                  <a:ext cx="408006" cy="276999"/>
                </a:xfrm>
                <a:prstGeom prst="rect">
                  <a:avLst/>
                </a:prstGeom>
              </p:spPr>
              <p:txBody>
                <a:bodyPr wrap="square" lIns="0" tIns="0" bIns="0" rtlCol="0">
                  <a:spAutoFit/>
                </a:bodyPr>
                <a:lstStyle/>
                <a:p>
                  <a:pPr marR="0" algn="l" defTabSz="912813" rtl="0" eaLnBrk="0" fontAlgn="base" latinLnBrk="0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500" b="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altLang="ko-KR" sz="1500" b="0" i="1" kern="0" smtClean="0">
                                <a:solidFill>
                                  <a:schemeClr val="tx1"/>
                                </a:solidFill>
                                <a:latin typeface="Cambria Math"/>
                                <a:ea typeface="+mn-ea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sz="1500" b="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sz="1500" b="0" kern="0" dirty="0" smtClean="0">
                    <a:solidFill>
                      <a:schemeClr val="tx1"/>
                    </a:solidFill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52" name="TextBox 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40633" y="5018792"/>
                  <a:ext cx="408006" cy="276999"/>
                </a:xfrm>
                <a:prstGeom prst="rect">
                  <a:avLst/>
                </a:prstGeom>
                <a:blipFill>
                  <a:blip r:embed="rId10"/>
                  <a:stretch>
                    <a:fillRect b="-8333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/>
                <p:cNvSpPr txBox="1"/>
                <p:nvPr/>
              </p:nvSpPr>
              <p:spPr>
                <a:xfrm>
                  <a:off x="3641194" y="5572089"/>
                  <a:ext cx="280489" cy="276999"/>
                </a:xfrm>
                <a:prstGeom prst="rect">
                  <a:avLst/>
                </a:prstGeom>
              </p:spPr>
              <p:txBody>
                <a:bodyPr wrap="square" lIns="0" tIns="0" bIns="0" rtlCol="0">
                  <a:spAutoFit/>
                </a:bodyPr>
                <a:lstStyle/>
                <a:p>
                  <a:pPr defTabSz="912813" eaLnBrk="0" fontAlgn="base" latinLnBrk="0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500" b="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altLang="ko-KR" sz="1500" b="0" i="1" kern="0" smtClean="0">
                                <a:solidFill>
                                  <a:schemeClr val="tx1"/>
                                </a:solidFill>
                                <a:latin typeface="Cambria Math"/>
                                <a:ea typeface="+mn-ea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sz="1500" b="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sz="1500" b="0" kern="0" dirty="0" smtClean="0">
                    <a:solidFill>
                      <a:schemeClr val="tx1"/>
                    </a:solidFill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53" name="TextBox 5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1194" y="5572089"/>
                  <a:ext cx="280489" cy="276999"/>
                </a:xfrm>
                <a:prstGeom prst="rect">
                  <a:avLst/>
                </a:prstGeom>
                <a:blipFill>
                  <a:blip r:embed="rId11"/>
                  <a:stretch>
                    <a:fillRect l="-8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7" name="직선 화살표 연결선 66"/>
            <p:cNvCxnSpPr/>
            <p:nvPr/>
          </p:nvCxnSpPr>
          <p:spPr bwMode="auto">
            <a:xfrm flipH="1">
              <a:off x="3824078" y="3283636"/>
              <a:ext cx="372151" cy="5317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68" name="직선 화살표 연결선 67"/>
            <p:cNvCxnSpPr/>
            <p:nvPr/>
          </p:nvCxnSpPr>
          <p:spPr bwMode="auto">
            <a:xfrm>
              <a:off x="4196229" y="3283637"/>
              <a:ext cx="0" cy="386663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extBox 68"/>
                <p:cNvSpPr txBox="1"/>
                <p:nvPr/>
              </p:nvSpPr>
              <p:spPr>
                <a:xfrm>
                  <a:off x="3798984" y="3412667"/>
                  <a:ext cx="299249" cy="276999"/>
                </a:xfrm>
                <a:prstGeom prst="rect">
                  <a:avLst/>
                </a:prstGeom>
              </p:spPr>
              <p:txBody>
                <a:bodyPr wrap="square" lIns="0" tIns="0" bIns="0" rtlCol="0">
                  <a:spAutoFit/>
                </a:bodyPr>
                <a:lstStyle/>
                <a:p>
                  <a:pPr marR="0" algn="l" defTabSz="912813" rtl="0" eaLnBrk="0" fontAlgn="base" latinLnBrk="0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500" b="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altLang="ko-KR" sz="1500" b="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sz="1500" b="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ko-KR" altLang="en-US" sz="1500" b="0" kern="0" dirty="0" smtClean="0">
                    <a:solidFill>
                      <a:schemeClr val="tx1"/>
                    </a:solidFill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69" name="TextBox 6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98984" y="3412667"/>
                  <a:ext cx="299249" cy="276999"/>
                </a:xfrm>
                <a:prstGeom prst="rect">
                  <a:avLst/>
                </a:prstGeom>
                <a:blipFill>
                  <a:blip r:embed="rId12"/>
                  <a:stretch>
                    <a:fillRect l="-12963" b="-8333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0" name="직선 화살표 연결선 69"/>
            <p:cNvCxnSpPr/>
            <p:nvPr/>
          </p:nvCxnSpPr>
          <p:spPr bwMode="auto">
            <a:xfrm flipH="1">
              <a:off x="3945296" y="3288456"/>
              <a:ext cx="251502" cy="221599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TextBox 70"/>
                <p:cNvSpPr txBox="1"/>
                <p:nvPr/>
              </p:nvSpPr>
              <p:spPr>
                <a:xfrm>
                  <a:off x="4040633" y="3603594"/>
                  <a:ext cx="408006" cy="276999"/>
                </a:xfrm>
                <a:prstGeom prst="rect">
                  <a:avLst/>
                </a:prstGeom>
              </p:spPr>
              <p:txBody>
                <a:bodyPr wrap="square" lIns="0" tIns="0" bIns="0" rtlCol="0">
                  <a:spAutoFit/>
                </a:bodyPr>
                <a:lstStyle/>
                <a:p>
                  <a:pPr marR="0" algn="l" defTabSz="912813" rtl="0" eaLnBrk="0" fontAlgn="base" latinLnBrk="0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500" b="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altLang="ko-KR" sz="1500" b="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500" b="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ko-KR" altLang="en-US" sz="1500" b="0" kern="0" dirty="0" smtClean="0">
                    <a:solidFill>
                      <a:schemeClr val="tx1"/>
                    </a:solidFill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71" name="TextBox 7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40633" y="3603594"/>
                  <a:ext cx="408006" cy="276999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TextBox 71"/>
                <p:cNvSpPr txBox="1"/>
                <p:nvPr/>
              </p:nvSpPr>
              <p:spPr>
                <a:xfrm>
                  <a:off x="3897965" y="3003340"/>
                  <a:ext cx="280489" cy="276999"/>
                </a:xfrm>
                <a:prstGeom prst="rect">
                  <a:avLst/>
                </a:prstGeom>
              </p:spPr>
              <p:txBody>
                <a:bodyPr wrap="square" lIns="0" tIns="0" bIns="0" rtlCol="0">
                  <a:spAutoFit/>
                </a:bodyPr>
                <a:lstStyle/>
                <a:p>
                  <a:pPr defTabSz="912813" eaLnBrk="0" fontAlgn="base" latinLnBrk="0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500" b="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altLang="ko-KR" sz="1500" b="0" i="1" kern="0" smtClean="0">
                                <a:solidFill>
                                  <a:schemeClr val="tx1"/>
                                </a:solidFill>
                                <a:latin typeface="Cambria Math"/>
                                <a:ea typeface="+mn-ea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sz="1500" b="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ko-KR" altLang="en-US" sz="1500" b="0" kern="0" dirty="0" smtClean="0">
                    <a:solidFill>
                      <a:schemeClr val="tx1"/>
                    </a:solidFill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72" name="TextBox 7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97965" y="3003340"/>
                  <a:ext cx="280489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9804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5" name="직선 화살표 연결선 74"/>
            <p:cNvCxnSpPr/>
            <p:nvPr/>
          </p:nvCxnSpPr>
          <p:spPr bwMode="auto">
            <a:xfrm flipH="1">
              <a:off x="3824078" y="1506430"/>
              <a:ext cx="372151" cy="5317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76" name="직선 화살표 연결선 75"/>
            <p:cNvCxnSpPr/>
            <p:nvPr/>
          </p:nvCxnSpPr>
          <p:spPr bwMode="auto">
            <a:xfrm>
              <a:off x="4196229" y="1506431"/>
              <a:ext cx="0" cy="386663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TextBox 76"/>
                <p:cNvSpPr txBox="1"/>
                <p:nvPr/>
              </p:nvSpPr>
              <p:spPr>
                <a:xfrm>
                  <a:off x="3727330" y="1659842"/>
                  <a:ext cx="299249" cy="276999"/>
                </a:xfrm>
                <a:prstGeom prst="rect">
                  <a:avLst/>
                </a:prstGeom>
              </p:spPr>
              <p:txBody>
                <a:bodyPr wrap="square" lIns="0" tIns="0" bIns="0" rtlCol="0">
                  <a:spAutoFit/>
                </a:bodyPr>
                <a:lstStyle/>
                <a:p>
                  <a:pPr marR="0" algn="l" defTabSz="912813" rtl="0" eaLnBrk="0" fontAlgn="base" latinLnBrk="0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500" b="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altLang="ko-KR" sz="1500" b="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sz="1500" b="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ko-KR" altLang="en-US" sz="1500" b="0" kern="0" dirty="0" smtClean="0">
                    <a:solidFill>
                      <a:schemeClr val="tx1"/>
                    </a:solidFill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77" name="TextBox 7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27330" y="1659842"/>
                  <a:ext cx="299249" cy="276999"/>
                </a:xfrm>
                <a:prstGeom prst="rect">
                  <a:avLst/>
                </a:prstGeom>
                <a:blipFill>
                  <a:blip r:embed="rId15"/>
                  <a:stretch>
                    <a:fillRect l="-12963" b="-8333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8" name="직선 화살표 연결선 77"/>
            <p:cNvCxnSpPr/>
            <p:nvPr/>
          </p:nvCxnSpPr>
          <p:spPr bwMode="auto">
            <a:xfrm flipH="1">
              <a:off x="3945296" y="1511250"/>
              <a:ext cx="251502" cy="221599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TextBox 78"/>
                <p:cNvSpPr txBox="1"/>
                <p:nvPr/>
              </p:nvSpPr>
              <p:spPr>
                <a:xfrm>
                  <a:off x="4224904" y="1671978"/>
                  <a:ext cx="408006" cy="276999"/>
                </a:xfrm>
                <a:prstGeom prst="rect">
                  <a:avLst/>
                </a:prstGeom>
              </p:spPr>
              <p:txBody>
                <a:bodyPr wrap="square" lIns="0" tIns="0" bIns="0" rtlCol="0">
                  <a:spAutoFit/>
                </a:bodyPr>
                <a:lstStyle/>
                <a:p>
                  <a:pPr marR="0" algn="l" defTabSz="912813" rtl="0" eaLnBrk="0" fontAlgn="base" latinLnBrk="0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500" b="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altLang="ko-KR" sz="1500" b="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500" b="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ko-KR" altLang="en-US" sz="1500" b="0" kern="0" dirty="0" smtClean="0">
                    <a:solidFill>
                      <a:schemeClr val="tx1"/>
                    </a:solidFill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79" name="TextBox 7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4904" y="1671978"/>
                  <a:ext cx="408006" cy="276999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TextBox 79"/>
                <p:cNvSpPr txBox="1"/>
                <p:nvPr/>
              </p:nvSpPr>
              <p:spPr>
                <a:xfrm>
                  <a:off x="3908857" y="1241150"/>
                  <a:ext cx="280489" cy="276999"/>
                </a:xfrm>
                <a:prstGeom prst="rect">
                  <a:avLst/>
                </a:prstGeom>
              </p:spPr>
              <p:txBody>
                <a:bodyPr wrap="square" lIns="0" tIns="0" bIns="0" rtlCol="0">
                  <a:spAutoFit/>
                </a:bodyPr>
                <a:lstStyle/>
                <a:p>
                  <a:pPr defTabSz="912813" eaLnBrk="0" fontAlgn="base" latinLnBrk="0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500" b="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altLang="ko-KR" sz="1500" b="0" i="1" kern="0" smtClean="0">
                                <a:solidFill>
                                  <a:schemeClr val="tx1"/>
                                </a:solidFill>
                                <a:latin typeface="Cambria Math"/>
                                <a:ea typeface="+mn-ea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sz="1500" b="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ko-KR" altLang="en-US" sz="1500" b="0" kern="0" dirty="0" smtClean="0">
                    <a:solidFill>
                      <a:schemeClr val="tx1"/>
                    </a:solidFill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80" name="TextBox 7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08857" y="1241150"/>
                  <a:ext cx="280489" cy="276999"/>
                </a:xfrm>
                <a:prstGeom prst="rect">
                  <a:avLst/>
                </a:prstGeom>
                <a:blipFill>
                  <a:blip r:embed="rId17"/>
                  <a:stretch>
                    <a:fillRect l="-9804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1" name="직선 화살표 연결선 80"/>
            <p:cNvCxnSpPr/>
            <p:nvPr/>
          </p:nvCxnSpPr>
          <p:spPr bwMode="auto">
            <a:xfrm flipH="1">
              <a:off x="3234461" y="1506430"/>
              <a:ext cx="372151" cy="5317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82" name="직선 화살표 연결선 81"/>
            <p:cNvCxnSpPr/>
            <p:nvPr/>
          </p:nvCxnSpPr>
          <p:spPr bwMode="auto">
            <a:xfrm flipV="1">
              <a:off x="3606612" y="1270488"/>
              <a:ext cx="0" cy="235944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TextBox 82"/>
                <p:cNvSpPr txBox="1"/>
                <p:nvPr/>
              </p:nvSpPr>
              <p:spPr>
                <a:xfrm>
                  <a:off x="3000857" y="1313201"/>
                  <a:ext cx="299249" cy="276999"/>
                </a:xfrm>
                <a:prstGeom prst="rect">
                  <a:avLst/>
                </a:prstGeom>
              </p:spPr>
              <p:txBody>
                <a:bodyPr wrap="square" lIns="0" tIns="0" bIns="0" rtlCol="0">
                  <a:spAutoFit/>
                </a:bodyPr>
                <a:lstStyle/>
                <a:p>
                  <a:pPr marR="0" algn="l" defTabSz="912813" rtl="0" eaLnBrk="0" fontAlgn="base" latinLnBrk="0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500" b="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altLang="ko-KR" sz="1500" b="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sz="1500" b="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ko-KR" altLang="en-US" sz="1500" b="0" kern="0" dirty="0" smtClean="0">
                    <a:solidFill>
                      <a:schemeClr val="tx1"/>
                    </a:solidFill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83" name="TextBox 8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00857" y="1313201"/>
                  <a:ext cx="299249" cy="276999"/>
                </a:xfrm>
                <a:prstGeom prst="rect">
                  <a:avLst/>
                </a:prstGeom>
                <a:blipFill>
                  <a:blip r:embed="rId18"/>
                  <a:stretch>
                    <a:fillRect l="-11111" b="-1041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4" name="직선 화살표 연결선 83"/>
            <p:cNvCxnSpPr/>
            <p:nvPr/>
          </p:nvCxnSpPr>
          <p:spPr bwMode="auto">
            <a:xfrm flipV="1">
              <a:off x="3614222" y="1308999"/>
              <a:ext cx="254999" cy="195041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TextBox 84"/>
                <p:cNvSpPr txBox="1"/>
                <p:nvPr/>
              </p:nvSpPr>
              <p:spPr>
                <a:xfrm>
                  <a:off x="3768661" y="1073325"/>
                  <a:ext cx="365704" cy="278801"/>
                </a:xfrm>
                <a:prstGeom prst="rect">
                  <a:avLst/>
                </a:prstGeom>
              </p:spPr>
              <p:txBody>
                <a:bodyPr wrap="square" lIns="0" tIns="0" bIns="0" rtlCol="0">
                  <a:spAutoFit/>
                </a:bodyPr>
                <a:lstStyle/>
                <a:p>
                  <a:pPr marR="0" algn="l" defTabSz="912813" rtl="0" eaLnBrk="0" fontAlgn="base" latinLnBrk="0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500" b="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altLang="ko-KR" sz="1500" b="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500" b="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ko-KR" altLang="en-US" sz="1500" b="0" kern="0" dirty="0" smtClean="0">
                    <a:solidFill>
                      <a:schemeClr val="tx1"/>
                    </a:solidFill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85" name="TextBox 8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68661" y="1073325"/>
                  <a:ext cx="365704" cy="278801"/>
                </a:xfrm>
                <a:prstGeom prst="rect">
                  <a:avLst/>
                </a:prstGeom>
                <a:blipFill>
                  <a:blip r:embed="rId19"/>
                  <a:stretch>
                    <a:fillRect l="-1667" b="-434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TextBox 85"/>
                <p:cNvSpPr txBox="1"/>
                <p:nvPr/>
              </p:nvSpPr>
              <p:spPr>
                <a:xfrm>
                  <a:off x="3403880" y="1199805"/>
                  <a:ext cx="280489" cy="276999"/>
                </a:xfrm>
                <a:prstGeom prst="rect">
                  <a:avLst/>
                </a:prstGeom>
              </p:spPr>
              <p:txBody>
                <a:bodyPr wrap="square" lIns="0" tIns="0" bIns="0" rtlCol="0">
                  <a:spAutoFit/>
                </a:bodyPr>
                <a:lstStyle/>
                <a:p>
                  <a:pPr defTabSz="912813" eaLnBrk="0" fontAlgn="base" latinLnBrk="0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500" b="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altLang="ko-KR" sz="1500" b="0" i="1" kern="0" smtClean="0">
                                <a:solidFill>
                                  <a:schemeClr val="tx1"/>
                                </a:solidFill>
                                <a:latin typeface="Cambria Math"/>
                                <a:ea typeface="+mn-ea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sz="1500" b="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ko-KR" altLang="en-US" sz="1500" b="0" kern="0" dirty="0" smtClean="0">
                    <a:solidFill>
                      <a:schemeClr val="tx1"/>
                    </a:solidFill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86" name="TextBox 8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03880" y="1199805"/>
                  <a:ext cx="280489" cy="276999"/>
                </a:xfrm>
                <a:prstGeom prst="rect">
                  <a:avLst/>
                </a:prstGeom>
                <a:blipFill>
                  <a:blip r:embed="rId20"/>
                  <a:stretch>
                    <a:fillRect l="-9804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9" name="직선 화살표 연결선 88"/>
            <p:cNvCxnSpPr/>
            <p:nvPr/>
          </p:nvCxnSpPr>
          <p:spPr bwMode="auto">
            <a:xfrm flipH="1">
              <a:off x="3331954" y="998734"/>
              <a:ext cx="274659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90" name="직선 화살표 연결선 89"/>
            <p:cNvCxnSpPr/>
            <p:nvPr/>
          </p:nvCxnSpPr>
          <p:spPr bwMode="auto">
            <a:xfrm>
              <a:off x="3606612" y="998736"/>
              <a:ext cx="0" cy="212844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91" name="직선 화살표 연결선 90"/>
            <p:cNvCxnSpPr/>
            <p:nvPr/>
          </p:nvCxnSpPr>
          <p:spPr bwMode="auto">
            <a:xfrm flipV="1">
              <a:off x="3614222" y="801303"/>
              <a:ext cx="254999" cy="195041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TextBox 91"/>
                <p:cNvSpPr txBox="1"/>
                <p:nvPr/>
              </p:nvSpPr>
              <p:spPr>
                <a:xfrm>
                  <a:off x="3816898" y="599005"/>
                  <a:ext cx="408006" cy="276999"/>
                </a:xfrm>
                <a:prstGeom prst="rect">
                  <a:avLst/>
                </a:prstGeom>
              </p:spPr>
              <p:txBody>
                <a:bodyPr wrap="square" lIns="0" tIns="0" bIns="0" rtlCol="0">
                  <a:spAutoFit/>
                </a:bodyPr>
                <a:lstStyle/>
                <a:p>
                  <a:pPr marR="0" algn="l" defTabSz="912813" rtl="0" eaLnBrk="0" fontAlgn="base" latinLnBrk="0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500" b="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altLang="ko-KR" sz="1500" b="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500" b="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ko-KR" altLang="en-US" sz="1500" b="0" kern="0" dirty="0" smtClean="0">
                    <a:solidFill>
                      <a:schemeClr val="tx1"/>
                    </a:solidFill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92" name="TextBox 9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16898" y="599005"/>
                  <a:ext cx="408006" cy="276999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TextBox 92"/>
                <p:cNvSpPr txBox="1"/>
                <p:nvPr/>
              </p:nvSpPr>
              <p:spPr>
                <a:xfrm>
                  <a:off x="3398699" y="736843"/>
                  <a:ext cx="280489" cy="276999"/>
                </a:xfrm>
                <a:prstGeom prst="rect">
                  <a:avLst/>
                </a:prstGeom>
              </p:spPr>
              <p:txBody>
                <a:bodyPr wrap="square" lIns="0" tIns="0" bIns="0" rtlCol="0">
                  <a:spAutoFit/>
                </a:bodyPr>
                <a:lstStyle/>
                <a:p>
                  <a:pPr defTabSz="912813" eaLnBrk="0" fontAlgn="base" latinLnBrk="0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500" b="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altLang="ko-KR" sz="1500" b="0" i="1" kern="0" smtClean="0">
                                <a:solidFill>
                                  <a:schemeClr val="tx1"/>
                                </a:solidFill>
                                <a:latin typeface="Cambria Math"/>
                                <a:ea typeface="+mn-ea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sz="1500" b="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ko-KR" altLang="en-US" sz="1500" b="0" kern="0" dirty="0" smtClean="0">
                    <a:solidFill>
                      <a:schemeClr val="tx1"/>
                    </a:solidFill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93" name="TextBox 9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98699" y="736843"/>
                  <a:ext cx="280489" cy="276999"/>
                </a:xfrm>
                <a:prstGeom prst="rect">
                  <a:avLst/>
                </a:prstGeom>
                <a:blipFill>
                  <a:blip r:embed="rId22"/>
                  <a:stretch>
                    <a:fillRect l="-9804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TextBox 96"/>
                <p:cNvSpPr txBox="1"/>
                <p:nvPr/>
              </p:nvSpPr>
              <p:spPr>
                <a:xfrm>
                  <a:off x="3697789" y="921268"/>
                  <a:ext cx="299249" cy="276999"/>
                </a:xfrm>
                <a:prstGeom prst="rect">
                  <a:avLst/>
                </a:prstGeom>
              </p:spPr>
              <p:txBody>
                <a:bodyPr wrap="square" lIns="0" tIns="0" bIns="0" rtlCol="0">
                  <a:spAutoFit/>
                </a:bodyPr>
                <a:lstStyle/>
                <a:p>
                  <a:pPr marR="0" algn="l" defTabSz="912813" rtl="0" eaLnBrk="0" fontAlgn="base" latinLnBrk="0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500" b="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altLang="ko-KR" sz="1500" b="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sz="1500" b="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ko-KR" altLang="en-US" sz="1500" b="0" kern="0" dirty="0" smtClean="0">
                    <a:solidFill>
                      <a:schemeClr val="tx1"/>
                    </a:solidFill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97" name="TextBox 9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7789" y="921268"/>
                  <a:ext cx="299249" cy="276999"/>
                </a:xfrm>
                <a:prstGeom prst="rect">
                  <a:avLst/>
                </a:prstGeom>
                <a:blipFill>
                  <a:blip r:embed="rId23"/>
                  <a:stretch>
                    <a:fillRect l="-22449" b="-1777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8" name="직선 화살표 연결선 97"/>
            <p:cNvCxnSpPr/>
            <p:nvPr/>
          </p:nvCxnSpPr>
          <p:spPr bwMode="auto">
            <a:xfrm flipH="1">
              <a:off x="2790114" y="998734"/>
              <a:ext cx="333552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99" name="직선 화살표 연결선 98"/>
            <p:cNvCxnSpPr/>
            <p:nvPr/>
          </p:nvCxnSpPr>
          <p:spPr bwMode="auto">
            <a:xfrm>
              <a:off x="3123665" y="998736"/>
              <a:ext cx="0" cy="212844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100" name="직선 화살표 연결선 99"/>
            <p:cNvCxnSpPr/>
            <p:nvPr/>
          </p:nvCxnSpPr>
          <p:spPr bwMode="auto">
            <a:xfrm flipV="1">
              <a:off x="3131275" y="801303"/>
              <a:ext cx="254999" cy="195041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TextBox 100"/>
                <p:cNvSpPr txBox="1"/>
                <p:nvPr/>
              </p:nvSpPr>
              <p:spPr>
                <a:xfrm>
                  <a:off x="3330796" y="533152"/>
                  <a:ext cx="192484" cy="276999"/>
                </a:xfrm>
                <a:prstGeom prst="rect">
                  <a:avLst/>
                </a:prstGeom>
              </p:spPr>
              <p:txBody>
                <a:bodyPr wrap="square" lIns="0" tIns="0" bIns="0" rtlCol="0">
                  <a:spAutoFit/>
                </a:bodyPr>
                <a:lstStyle/>
                <a:p>
                  <a:pPr marR="0" algn="l" defTabSz="912813" rtl="0" eaLnBrk="0" fontAlgn="base" latinLnBrk="0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500" b="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altLang="ko-KR" sz="1500" b="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500" b="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ko-KR" altLang="en-US" sz="1500" b="0" kern="0" dirty="0" smtClean="0">
                    <a:solidFill>
                      <a:schemeClr val="tx1"/>
                    </a:solidFill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101" name="TextBox 10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30796" y="533152"/>
                  <a:ext cx="192484" cy="276999"/>
                </a:xfrm>
                <a:prstGeom prst="rect">
                  <a:avLst/>
                </a:prstGeom>
                <a:blipFill>
                  <a:blip r:embed="rId24"/>
                  <a:stretch>
                    <a:fillRect l="-23529" r="-11765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TextBox 101"/>
                <p:cNvSpPr txBox="1"/>
                <p:nvPr/>
              </p:nvSpPr>
              <p:spPr>
                <a:xfrm>
                  <a:off x="2870204" y="706030"/>
                  <a:ext cx="280489" cy="276999"/>
                </a:xfrm>
                <a:prstGeom prst="rect">
                  <a:avLst/>
                </a:prstGeom>
              </p:spPr>
              <p:txBody>
                <a:bodyPr wrap="square" lIns="0" tIns="0" bIns="0" rtlCol="0">
                  <a:spAutoFit/>
                </a:bodyPr>
                <a:lstStyle/>
                <a:p>
                  <a:pPr defTabSz="912813" eaLnBrk="0" fontAlgn="base" latinLnBrk="0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500" b="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altLang="ko-KR" sz="1500" b="0" i="1" kern="0" smtClean="0">
                                <a:solidFill>
                                  <a:schemeClr val="tx1"/>
                                </a:solidFill>
                                <a:latin typeface="Cambria Math"/>
                                <a:ea typeface="+mn-ea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sz="1500" b="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ko-KR" altLang="en-US" sz="1500" b="0" kern="0" dirty="0" smtClean="0">
                    <a:solidFill>
                      <a:schemeClr val="tx1"/>
                    </a:solidFill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102" name="TextBox 10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70204" y="706030"/>
                  <a:ext cx="280489" cy="276999"/>
                </a:xfrm>
                <a:prstGeom prst="rect">
                  <a:avLst/>
                </a:prstGeom>
                <a:blipFill>
                  <a:blip r:embed="rId25"/>
                  <a:stretch>
                    <a:fillRect l="-10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TextBox 102"/>
                <p:cNvSpPr txBox="1"/>
                <p:nvPr/>
              </p:nvSpPr>
              <p:spPr>
                <a:xfrm>
                  <a:off x="3036093" y="1119971"/>
                  <a:ext cx="224796" cy="276999"/>
                </a:xfrm>
                <a:prstGeom prst="rect">
                  <a:avLst/>
                </a:prstGeom>
              </p:spPr>
              <p:txBody>
                <a:bodyPr wrap="square" lIns="0" tIns="0" bIns="0" rtlCol="0" anchor="ctr" anchorCtr="0">
                  <a:spAutoFit/>
                </a:bodyPr>
                <a:lstStyle/>
                <a:p>
                  <a:pPr marR="0" algn="l" defTabSz="912813" rtl="0" eaLnBrk="0" fontAlgn="base" latinLnBrk="0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500" b="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altLang="ko-KR" sz="1500" b="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sz="1500" b="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ko-KR" altLang="en-US" sz="1500" b="0" kern="0" dirty="0" smtClean="0">
                    <a:solidFill>
                      <a:schemeClr val="tx1"/>
                    </a:solidFill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103" name="TextBox 10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36093" y="1119971"/>
                  <a:ext cx="224796" cy="276999"/>
                </a:xfrm>
                <a:prstGeom prst="rect">
                  <a:avLst/>
                </a:prstGeom>
                <a:blipFill>
                  <a:blip r:embed="rId26"/>
                  <a:stretch>
                    <a:fillRect l="-30000" b="-12245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" name="직선 연결선 3"/>
          <p:cNvCxnSpPr/>
          <p:nvPr/>
        </p:nvCxnSpPr>
        <p:spPr>
          <a:xfrm flipH="1">
            <a:off x="2286760" y="6316988"/>
            <a:ext cx="252446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/>
          <p:cNvCxnSpPr/>
          <p:nvPr/>
        </p:nvCxnSpPr>
        <p:spPr>
          <a:xfrm flipH="1" flipV="1">
            <a:off x="2274789" y="5638019"/>
            <a:ext cx="2382347" cy="605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/>
          <p:cNvCxnSpPr/>
          <p:nvPr/>
        </p:nvCxnSpPr>
        <p:spPr>
          <a:xfrm flipH="1">
            <a:off x="2702565" y="3202838"/>
            <a:ext cx="192459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/>
          <p:cNvCxnSpPr/>
          <p:nvPr/>
        </p:nvCxnSpPr>
        <p:spPr>
          <a:xfrm flipH="1">
            <a:off x="2702565" y="1413650"/>
            <a:ext cx="192652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/>
          <p:cNvCxnSpPr/>
          <p:nvPr/>
        </p:nvCxnSpPr>
        <p:spPr>
          <a:xfrm flipH="1">
            <a:off x="2244078" y="934633"/>
            <a:ext cx="148677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/>
          <p:cNvCxnSpPr/>
          <p:nvPr/>
        </p:nvCxnSpPr>
        <p:spPr>
          <a:xfrm flipV="1">
            <a:off x="2453960" y="5657437"/>
            <a:ext cx="0" cy="659552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/>
          <p:cNvCxnSpPr/>
          <p:nvPr/>
        </p:nvCxnSpPr>
        <p:spPr>
          <a:xfrm flipV="1">
            <a:off x="2817857" y="3199810"/>
            <a:ext cx="0" cy="2438209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/>
          <p:cNvCxnSpPr/>
          <p:nvPr/>
        </p:nvCxnSpPr>
        <p:spPr>
          <a:xfrm flipV="1">
            <a:off x="2817857" y="1412250"/>
            <a:ext cx="0" cy="1781074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/>
          <p:cNvCxnSpPr/>
          <p:nvPr/>
        </p:nvCxnSpPr>
        <p:spPr>
          <a:xfrm flipV="1">
            <a:off x="2817857" y="924092"/>
            <a:ext cx="0" cy="492835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 flipV="1">
            <a:off x="4071500" y="324081"/>
            <a:ext cx="0" cy="47979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/>
          <p:cNvCxnSpPr/>
          <p:nvPr/>
        </p:nvCxnSpPr>
        <p:spPr>
          <a:xfrm flipV="1">
            <a:off x="4546128" y="332095"/>
            <a:ext cx="0" cy="47979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연결선 87"/>
          <p:cNvCxnSpPr/>
          <p:nvPr/>
        </p:nvCxnSpPr>
        <p:spPr>
          <a:xfrm flipV="1">
            <a:off x="5168087" y="332570"/>
            <a:ext cx="0" cy="486317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화살표 연결선 93"/>
          <p:cNvCxnSpPr/>
          <p:nvPr/>
        </p:nvCxnSpPr>
        <p:spPr>
          <a:xfrm flipV="1">
            <a:off x="2453960" y="934633"/>
            <a:ext cx="0" cy="4703386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직사각형 94"/>
          <p:cNvSpPr/>
          <p:nvPr/>
        </p:nvSpPr>
        <p:spPr>
          <a:xfrm rot="16200000">
            <a:off x="2099953" y="3116876"/>
            <a:ext cx="466794" cy="29341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tabLst>
                <a:tab pos="5562600" algn="l"/>
                <a:tab pos="6007100" algn="l"/>
              </a:tabLst>
            </a:pPr>
            <a:r>
              <a:rPr lang="en-US" altLang="ko-KR" sz="1000" dirty="0" smtClean="0">
                <a:solidFill>
                  <a:prstClr val="black"/>
                </a:solidFill>
                <a:latin typeface="+mn-ea"/>
              </a:rPr>
              <a:t>1420</a:t>
            </a:r>
            <a:endParaRPr lang="en-US" altLang="ko-KR" sz="1000" dirty="0">
              <a:solidFill>
                <a:prstClr val="black"/>
              </a:solidFill>
              <a:latin typeface="+mn-ea"/>
            </a:endParaRPr>
          </a:p>
        </p:txBody>
      </p:sp>
      <p:cxnSp>
        <p:nvCxnSpPr>
          <p:cNvPr id="41" name="직선 화살표 연결선 40"/>
          <p:cNvCxnSpPr/>
          <p:nvPr/>
        </p:nvCxnSpPr>
        <p:spPr>
          <a:xfrm>
            <a:off x="4063901" y="407909"/>
            <a:ext cx="489826" cy="0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화살표 연결선 95"/>
          <p:cNvCxnSpPr/>
          <p:nvPr/>
        </p:nvCxnSpPr>
        <p:spPr>
          <a:xfrm>
            <a:off x="4553727" y="407909"/>
            <a:ext cx="629474" cy="0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직사각형 103"/>
          <p:cNvSpPr/>
          <p:nvPr/>
        </p:nvSpPr>
        <p:spPr>
          <a:xfrm rot="16200000">
            <a:off x="2018805" y="5813734"/>
            <a:ext cx="633507" cy="29341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tabLst>
                <a:tab pos="5562600" algn="l"/>
                <a:tab pos="6007100" algn="l"/>
              </a:tabLst>
            </a:pPr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d</a:t>
            </a:r>
            <a:r>
              <a:rPr lang="en-US" altLang="ko-KR" sz="1000" dirty="0" smtClean="0">
                <a:solidFill>
                  <a:prstClr val="black"/>
                </a:solidFill>
                <a:latin typeface="+mn-ea"/>
              </a:rPr>
              <a:t>1=207</a:t>
            </a:r>
            <a:endParaRPr lang="en-US" altLang="ko-KR" sz="10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105" name="직사각형 104"/>
          <p:cNvSpPr/>
          <p:nvPr/>
        </p:nvSpPr>
        <p:spPr>
          <a:xfrm rot="16200000">
            <a:off x="2398679" y="4083005"/>
            <a:ext cx="623889" cy="29341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tabLst>
                <a:tab pos="5562600" algn="l"/>
                <a:tab pos="6007100" algn="l"/>
              </a:tabLst>
            </a:pPr>
            <a:r>
              <a:rPr lang="en-US" altLang="ko-KR" sz="1000" dirty="0" smtClean="0">
                <a:solidFill>
                  <a:prstClr val="black"/>
                </a:solidFill>
                <a:latin typeface="+mn-ea"/>
              </a:rPr>
              <a:t>a2=730</a:t>
            </a:r>
            <a:endParaRPr lang="en-US" altLang="ko-KR" sz="10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108" name="직사각형 107"/>
          <p:cNvSpPr/>
          <p:nvPr/>
        </p:nvSpPr>
        <p:spPr>
          <a:xfrm rot="16200000">
            <a:off x="2348985" y="2207160"/>
            <a:ext cx="723275" cy="29341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tabLst>
                <a:tab pos="5562600" algn="l"/>
                <a:tab pos="6007100" algn="l"/>
              </a:tabLst>
            </a:pPr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a</a:t>
            </a:r>
            <a:r>
              <a:rPr lang="en-US" altLang="ko-KR" sz="1000" dirty="0" smtClean="0">
                <a:solidFill>
                  <a:prstClr val="black"/>
                </a:solidFill>
                <a:latin typeface="+mn-ea"/>
              </a:rPr>
              <a:t>3=538.8</a:t>
            </a:r>
            <a:endParaRPr lang="en-US" altLang="ko-KR" sz="10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109" name="직사각형 108"/>
          <p:cNvSpPr/>
          <p:nvPr/>
        </p:nvSpPr>
        <p:spPr>
          <a:xfrm rot="16200000">
            <a:off x="2338473" y="1034717"/>
            <a:ext cx="732893" cy="29341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tabLst>
                <a:tab pos="5562600" algn="l"/>
                <a:tab pos="6007100" algn="l"/>
              </a:tabLst>
            </a:pPr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d</a:t>
            </a:r>
            <a:r>
              <a:rPr lang="en-US" altLang="ko-KR" sz="1000" dirty="0" smtClean="0">
                <a:solidFill>
                  <a:prstClr val="black"/>
                </a:solidFill>
                <a:latin typeface="+mn-ea"/>
              </a:rPr>
              <a:t>5=151.2</a:t>
            </a:r>
            <a:endParaRPr lang="en-US" altLang="ko-KR" sz="10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110" name="직사각형 109"/>
          <p:cNvSpPr/>
          <p:nvPr/>
        </p:nvSpPr>
        <p:spPr>
          <a:xfrm>
            <a:off x="3907086" y="121471"/>
            <a:ext cx="732893" cy="29341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tabLst>
                <a:tab pos="5562600" algn="l"/>
                <a:tab pos="6007100" algn="l"/>
              </a:tabLst>
            </a:pPr>
            <a:r>
              <a:rPr lang="en-US" altLang="ko-KR" sz="1000" dirty="0" smtClean="0">
                <a:solidFill>
                  <a:prstClr val="black"/>
                </a:solidFill>
                <a:latin typeface="+mn-ea"/>
              </a:rPr>
              <a:t>d6=141.2</a:t>
            </a:r>
            <a:endParaRPr lang="en-US" altLang="ko-KR" sz="10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111" name="직사각형 110"/>
          <p:cNvSpPr/>
          <p:nvPr/>
        </p:nvSpPr>
        <p:spPr>
          <a:xfrm>
            <a:off x="4513888" y="124466"/>
            <a:ext cx="732893" cy="29341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tabLst>
                <a:tab pos="5562600" algn="l"/>
                <a:tab pos="6007100" algn="l"/>
              </a:tabLst>
            </a:pPr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d</a:t>
            </a:r>
            <a:r>
              <a:rPr lang="en-US" altLang="ko-KR" sz="1000" dirty="0" smtClean="0">
                <a:solidFill>
                  <a:prstClr val="black"/>
                </a:solidFill>
                <a:latin typeface="+mn-ea"/>
              </a:rPr>
              <a:t>4=184.7</a:t>
            </a:r>
            <a:endParaRPr lang="en-US" altLang="ko-KR" sz="1000" dirty="0">
              <a:solidFill>
                <a:prstClr val="black"/>
              </a:solidFill>
              <a:latin typeface="+mn-ea"/>
            </a:endParaRPr>
          </a:p>
        </p:txBody>
      </p:sp>
      <p:graphicFrame>
        <p:nvGraphicFramePr>
          <p:cNvPr id="3" name="개체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5679181"/>
              </p:ext>
            </p:extLst>
          </p:nvPr>
        </p:nvGraphicFramePr>
        <p:xfrm>
          <a:off x="6813087" y="4033151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1" name="워크시트" showAsIcon="1" r:id="rId27" imgW="914400" imgH="771480" progId="Excel.Sheet.12">
                  <p:embed/>
                </p:oleObj>
              </mc:Choice>
              <mc:Fallback>
                <p:oleObj name="워크시트" showAsIcon="1" r:id="rId27" imgW="914400" imgH="77148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6813087" y="4033151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444812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3006</TotalTime>
  <Words>194</Words>
  <Application>Microsoft Office PowerPoint</Application>
  <PresentationFormat>와이드스크린</PresentationFormat>
  <Paragraphs>160</Paragraphs>
  <Slides>3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2</vt:i4>
      </vt:variant>
      <vt:variant>
        <vt:lpstr>슬라이드 제목</vt:lpstr>
      </vt:variant>
      <vt:variant>
        <vt:i4>3</vt:i4>
      </vt:variant>
    </vt:vector>
  </HeadingPairs>
  <TitlesOfParts>
    <vt:vector size="10" baseType="lpstr">
      <vt:lpstr>맑은 고딕</vt:lpstr>
      <vt:lpstr>Arial</vt:lpstr>
      <vt:lpstr>Cambria Math</vt:lpstr>
      <vt:lpstr>Wingdings</vt:lpstr>
      <vt:lpstr>Office 테마</vt:lpstr>
      <vt:lpstr>워크시트</vt:lpstr>
      <vt:lpstr>프레젠테이션</vt:lpstr>
      <vt:lpstr>PowerPoint 프레젠테이션</vt:lpstr>
      <vt:lpstr>PowerPoint 프레젠테이션</vt:lpstr>
      <vt:lpstr>PowerPoint 프레젠테이션</vt:lpstr>
    </vt:vector>
  </TitlesOfParts>
  <Company>Hanwha Techwin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김강균</dc:creator>
  <cp:lastModifiedBy>배상진</cp:lastModifiedBy>
  <cp:revision>47</cp:revision>
  <dcterms:created xsi:type="dcterms:W3CDTF">2020-10-06T00:11:09Z</dcterms:created>
  <dcterms:modified xsi:type="dcterms:W3CDTF">2023-05-24T02:33:41Z</dcterms:modified>
</cp:coreProperties>
</file>