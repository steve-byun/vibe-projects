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71" r:id="rId3"/>
    <p:sldId id="284" r:id="rId4"/>
    <p:sldId id="285" r:id="rId5"/>
    <p:sldId id="287" r:id="rId6"/>
    <p:sldId id="290" r:id="rId7"/>
    <p:sldId id="286" r:id="rId8"/>
    <p:sldId id="289" r:id="rId9"/>
    <p:sldId id="266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bot" initials="r" lastIdx="1" clrIdx="0">
    <p:extLst>
      <p:ext uri="{19B8F6BF-5375-455C-9EA6-DF929625EA0E}">
        <p15:presenceInfo xmlns:p15="http://schemas.microsoft.com/office/powerpoint/2012/main" userId="robo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59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981" autoAdjust="0"/>
    <p:restoredTop sz="74239" autoAdjust="0"/>
  </p:normalViewPr>
  <p:slideViewPr>
    <p:cSldViewPr snapToGrid="0">
      <p:cViewPr varScale="1">
        <p:scale>
          <a:sx n="82" d="100"/>
          <a:sy n="82" d="100"/>
        </p:scale>
        <p:origin x="8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6259A-4051-4682-9DFB-D810BA2C0E85}" type="datetimeFigureOut">
              <a:rPr lang="ko-KR" altLang="en-US" smtClean="0"/>
              <a:t>2023-12-11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A7749-7FF1-4233-B330-B5BE91383E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89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Hello Thank you for inviting me first.</a:t>
            </a:r>
          </a:p>
          <a:p>
            <a:r>
              <a:rPr lang="en-US" altLang="ko-KR" dirty="0"/>
              <a:t>I hope Hanwha and Schaeffler can help each other.</a:t>
            </a:r>
          </a:p>
          <a:p>
            <a:r>
              <a:rPr lang="en-US" altLang="ko-KR" dirty="0"/>
              <a:t>I will briefly introduce myself.</a:t>
            </a:r>
          </a:p>
          <a:p>
            <a:r>
              <a:rPr lang="en-US" altLang="ko-KR" dirty="0"/>
              <a:t>I am Bae Gang-</a:t>
            </a:r>
            <a:r>
              <a:rPr lang="en-US" altLang="ko-KR" dirty="0" err="1"/>
              <a:t>tae</a:t>
            </a:r>
            <a:r>
              <a:rPr lang="en-US" altLang="ko-KR" dirty="0"/>
              <a:t>, research engineer at Hanwha Precision Machinery Robot Division.</a:t>
            </a:r>
          </a:p>
          <a:p>
            <a:r>
              <a:rPr lang="en-US" altLang="ko-KR" dirty="0"/>
              <a:t>As you have seen at the last meeting in </a:t>
            </a:r>
            <a:r>
              <a:rPr lang="en-US" altLang="ko-KR" dirty="0" err="1"/>
              <a:t>korea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this is the leader engineer </a:t>
            </a:r>
            <a:r>
              <a:rPr lang="en-US" altLang="ko-KR" dirty="0" err="1"/>
              <a:t>Mr</a:t>
            </a:r>
            <a:r>
              <a:rPr lang="en-US" altLang="ko-KR" dirty="0"/>
              <a:t> lee in the algorithm part</a:t>
            </a:r>
          </a:p>
          <a:p>
            <a:endParaRPr lang="en-US" altLang="ko-KR" dirty="0"/>
          </a:p>
          <a:p>
            <a:r>
              <a:rPr lang="en-US" altLang="ko-KR" dirty="0"/>
              <a:t>Today we will go over what we need to worry about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675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appreciate for listening</a:t>
            </a:r>
            <a:endParaRPr lang="ko-KR" altLang="en-US" dirty="0"/>
          </a:p>
          <a:p>
            <a:r>
              <a:rPr lang="en-US" altLang="ko-KR" dirty="0"/>
              <a:t>Anything else question?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A7749-7FF1-4233-B330-B5BE91383E8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65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9C3D0B-4713-49DC-BCEA-A9FC879802B4}" type="datetimeFigureOut">
              <a:rPr lang="ko-KR" altLang="en-US" smtClean="0"/>
              <a:t>2023-12-11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34A41CF-331A-463F-8B91-7D686BCE03C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 bwMode="auto">
          <a:xfrm>
            <a:off x="0" y="1"/>
            <a:ext cx="9144000" cy="685799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lang="ko-KR" altLang="en-US" sz="1200" dirty="0">
              <a:solidFill>
                <a:srgbClr val="000000"/>
              </a:solidFill>
              <a:cs typeface="Arial" charset="0"/>
            </a:endParaRPr>
          </a:p>
        </p:txBody>
      </p:sp>
      <p:pic>
        <p:nvPicPr>
          <p:cNvPr id="9" name="Picture 3" descr="마크컬러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202978" y="229518"/>
            <a:ext cx="1585481" cy="501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9"/>
          <p:cNvPicPr>
            <a:picLocks noChangeAspect="1" noChangeArrowheads="1"/>
          </p:cNvPicPr>
          <p:nvPr userDrawn="1"/>
        </p:nvPicPr>
        <p:blipFill>
          <a:blip r:embed="rId3"/>
          <a:srcRect l="48229" t="39221" r="13542" b="6407"/>
          <a:stretch>
            <a:fillRect/>
          </a:stretch>
        </p:blipFill>
        <p:spPr bwMode="auto">
          <a:xfrm>
            <a:off x="4140200" y="2544084"/>
            <a:ext cx="4660900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1101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88093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1962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F7240-CD16-42E9-9EA1-78AE035C52CF}" type="datetimeFigureOut">
              <a:rPr lang="ko-KR" altLang="en-US" smtClean="0"/>
              <a:t>2023-12-11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86F8D9-4148-439F-B8E5-DC67DA6FB2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36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39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3"/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auto">
          <a:xfrm>
            <a:off x="8818363" y="6604327"/>
            <a:ext cx="323808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fld id="{5890D3D4-E888-42C7-B0A0-6BABD1A7762D}" type="slidenum">
              <a:rPr lang="en-US" altLang="ko-KR" sz="900">
                <a:solidFill>
                  <a:srgbClr val="000000"/>
                </a:solidFill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ko-KR" sz="900" dirty="0">
              <a:solidFill>
                <a:srgbClr val="000000"/>
              </a:solidFill>
            </a:endParaRPr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82305"/>
            <a:ext cx="9144000" cy="0"/>
          </a:xfrm>
          <a:prstGeom prst="line">
            <a:avLst/>
          </a:prstGeom>
          <a:ln w="38100">
            <a:solidFill>
              <a:srgbClr val="F373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966732" y="180975"/>
            <a:ext cx="1177268" cy="33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3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7901467" y="6604327"/>
            <a:ext cx="79188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</a:rPr>
              <a:t>Confidential</a:t>
            </a:r>
          </a:p>
        </p:txBody>
      </p:sp>
      <p:sp>
        <p:nvSpPr>
          <p:cNvPr id="12" name="Rectangle 13"/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8653438" y="6589813"/>
            <a:ext cx="209994" cy="22826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algn="r"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900" dirty="0">
                <a:solidFill>
                  <a:srgbClr val="000000"/>
                </a:solidFill>
                <a:latin typeface="맑은 고딕" panose="020B0503020000020004" pitchFamily="50" charset="-127"/>
              </a:rPr>
              <a:t>|</a:t>
            </a:r>
          </a:p>
        </p:txBody>
      </p:sp>
      <p:cxnSp>
        <p:nvCxnSpPr>
          <p:cNvPr id="13" name="직선 연결선 12"/>
          <p:cNvCxnSpPr/>
          <p:nvPr userDrawn="1"/>
        </p:nvCxnSpPr>
        <p:spPr bwMode="auto">
          <a:xfrm flipH="1">
            <a:off x="61546" y="6600810"/>
            <a:ext cx="8572500" cy="0"/>
          </a:xfrm>
          <a:prstGeom prst="line">
            <a:avLst/>
          </a:prstGeom>
          <a:solidFill>
            <a:schemeClr val="bg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75395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11" Type="http://schemas.openxmlformats.org/officeDocument/2006/relationships/image" Target="../media/image9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7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emf"/><Relationship Id="rId4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5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sz="4400" dirty="0" smtClean="0">
                <a:latin typeface="+mn-lt"/>
              </a:rPr>
              <a:t>Robot Collision Detection</a:t>
            </a:r>
            <a:endParaRPr lang="ko-KR" altLang="en-US" b="0" dirty="0">
              <a:latin typeface="+mn-lt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1509F976-3C0C-479D-9D31-9BA3A4A6B8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7315200" cy="1655762"/>
          </a:xfrm>
        </p:spPr>
        <p:txBody>
          <a:bodyPr/>
          <a:lstStyle/>
          <a:p>
            <a:r>
              <a:rPr lang="en-US" altLang="ko-KR" dirty="0" smtClean="0"/>
              <a:t>Generalized-momentum-based external torque observer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0058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Robot Dynamics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53479" y="1629527"/>
                <a:ext cx="8341634" cy="41549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 , 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̇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̈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ko-KR" sz="14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1629527"/>
                <a:ext cx="8341634" cy="41549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화살표 연결선 5"/>
          <p:cNvCxnSpPr/>
          <p:nvPr/>
        </p:nvCxnSpPr>
        <p:spPr>
          <a:xfrm flipH="1" flipV="1">
            <a:off x="2202150" y="2021049"/>
            <a:ext cx="8312" cy="656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/>
          <p:nvPr/>
        </p:nvCxnSpPr>
        <p:spPr>
          <a:xfrm flipH="1" flipV="1">
            <a:off x="2613558" y="2182823"/>
            <a:ext cx="8312" cy="253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29549" y="2713009"/>
                <a:ext cx="4652427" cy="3250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>
                    <a:latin typeface="Calibri (본문)"/>
                  </a:rPr>
                  <a:t>Actual torque : motor torque(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Calibri (본문)"/>
                  </a:rPr>
                  <a:t>)</a:t>
                </a:r>
                <a:r>
                  <a:rPr lang="en-US" altLang="ko-KR" sz="1400" dirty="0" smtClean="0">
                    <a:latin typeface="Calibri (본문)"/>
                  </a:rPr>
                  <a:t> – friction torque</a:t>
                </a:r>
                <a:r>
                  <a:rPr lang="en-US" altLang="ko-KR" sz="1400" dirty="0">
                    <a:latin typeface="Calibri (본문)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altLang="ko-KR" sz="1400" dirty="0">
                    <a:latin typeface="Calibri (본문)"/>
                  </a:rPr>
                  <a:t>)</a:t>
                </a:r>
                <a:endParaRPr lang="en-US" altLang="ko-KR" sz="14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9549" y="2713009"/>
                <a:ext cx="4652427" cy="325025"/>
              </a:xfrm>
              <a:prstGeom prst="rect">
                <a:avLst/>
              </a:prstGeom>
              <a:blipFill>
                <a:blip r:embed="rId3"/>
                <a:stretch>
                  <a:fillRect l="-393" t="-7547" b="-113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/>
              <p:cNvSpPr txBox="1"/>
              <p:nvPr/>
            </p:nvSpPr>
            <p:spPr>
              <a:xfrm>
                <a:off x="2471649" y="2408632"/>
                <a:ext cx="174317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1400" dirty="0" smtClean="0">
                    <a:latin typeface="Calibri (본문)"/>
                  </a:rPr>
                  <a:t>External torque(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4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altLang="ko-KR" sz="1400" dirty="0" smtClean="0">
                    <a:latin typeface="Calibri (본문)"/>
                  </a:rPr>
                  <a:t>)</a:t>
                </a:r>
                <a:endParaRPr lang="ko-KR" altLang="en-US" sz="1400" dirty="0">
                  <a:latin typeface="Calibri (본문)"/>
                </a:endParaRPr>
              </a:p>
            </p:txBody>
          </p:sp>
        </mc:Choice>
        <mc:Fallback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1649" y="2408632"/>
                <a:ext cx="1743170" cy="307777"/>
              </a:xfrm>
              <a:prstGeom prst="rect">
                <a:avLst/>
              </a:prstGeom>
              <a:blipFill>
                <a:blip r:embed="rId4"/>
                <a:stretch>
                  <a:fillRect l="-1049" t="-5882" r="-350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53479" y="3185426"/>
                <a:ext cx="26436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Generalized momentum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3185426"/>
                <a:ext cx="2643672" cy="461665"/>
              </a:xfrm>
              <a:prstGeom prst="rect">
                <a:avLst/>
              </a:prstGeom>
              <a:blipFill>
                <a:blip r:embed="rId5"/>
                <a:stretch>
                  <a:fillRect r="-691"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직사각형 89"/>
              <p:cNvSpPr/>
              <p:nvPr/>
            </p:nvSpPr>
            <p:spPr>
              <a:xfrm>
                <a:off x="353479" y="1102459"/>
                <a:ext cx="21980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>
                    <a:latin typeface="Calibri (본문)"/>
                  </a:rPr>
                  <a:t>Dynamic equation</a:t>
                </a:r>
              </a:p>
            </p:txBody>
          </p:sp>
        </mc:Choice>
        <mc:Fallback xmlns="">
          <p:sp>
            <p:nvSpPr>
              <p:cNvPr id="90" name="직사각형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1102459"/>
                <a:ext cx="2198038" cy="461665"/>
              </a:xfrm>
              <a:prstGeom prst="rect">
                <a:avLst/>
              </a:prstGeom>
              <a:blipFill>
                <a:blip r:embed="rId9"/>
                <a:stretch>
                  <a:fillRect b="-52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오른쪽 중괄호 1"/>
          <p:cNvSpPr/>
          <p:nvPr/>
        </p:nvSpPr>
        <p:spPr>
          <a:xfrm rot="5400000">
            <a:off x="2497429" y="1824241"/>
            <a:ext cx="187365" cy="428124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436031" y="3645935"/>
                <a:ext cx="1651040" cy="41549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̇"/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altLang="ko-KR" sz="14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31" y="3645935"/>
                <a:ext cx="1651040" cy="41549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직사각형 34"/>
              <p:cNvSpPr/>
              <p:nvPr/>
            </p:nvSpPr>
            <p:spPr>
              <a:xfrm>
                <a:off x="353479" y="4510492"/>
                <a:ext cx="446468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Filtered version of external torque observer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35" name="직사각형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79" y="4510492"/>
                <a:ext cx="4464684" cy="461665"/>
              </a:xfrm>
              <a:prstGeom prst="rect">
                <a:avLst/>
              </a:prstGeom>
              <a:blipFill>
                <a:blip r:embed="rId11"/>
                <a:stretch>
                  <a:fillRect r="-137"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438802" y="4953806"/>
                <a:ext cx="1805634" cy="49225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4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ko-KR" sz="14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altLang="ko-KR" sz="14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num>
                            <m:den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ko-KR" sz="14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4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ko-KR" sz="14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02" y="4953806"/>
                <a:ext cx="1805634" cy="49225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오른쪽 중괄호 38"/>
          <p:cNvSpPr/>
          <p:nvPr/>
        </p:nvSpPr>
        <p:spPr>
          <a:xfrm rot="5400000">
            <a:off x="1525156" y="5328016"/>
            <a:ext cx="105763" cy="2924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cxnSp>
        <p:nvCxnSpPr>
          <p:cNvPr id="41" name="직선 화살표 연결선 40"/>
          <p:cNvCxnSpPr/>
          <p:nvPr/>
        </p:nvCxnSpPr>
        <p:spPr>
          <a:xfrm flipH="1" flipV="1">
            <a:off x="1578037" y="5607691"/>
            <a:ext cx="8312" cy="2531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261551" y="5927891"/>
            <a:ext cx="71080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Calibri (본문)"/>
              </a:rPr>
              <a:t>First order continuous time filter ,  where s : Laplace variable, </a:t>
            </a:r>
            <a:r>
              <a:rPr lang="el-GR" altLang="ko-KR" sz="1400" dirty="0" smtClean="0">
                <a:latin typeface="Calibri (본문)"/>
              </a:rPr>
              <a:t>λ</a:t>
            </a:r>
            <a:r>
              <a:rPr lang="en-US" altLang="ko-KR" sz="1400" dirty="0" smtClean="0">
                <a:latin typeface="Calibri (본문)"/>
              </a:rPr>
              <a:t> : cutoff frequency</a:t>
            </a:r>
            <a:endParaRPr lang="ko-KR" altLang="en-US" sz="1400" dirty="0">
              <a:latin typeface="Calibri (본문)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81976" y="6328677"/>
            <a:ext cx="22131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cs typeface="Calibri" panose="020F0502020204030204" pitchFamily="34" charset="0"/>
              </a:rPr>
              <a:t>[De Luca et al., 2006, IROS]</a:t>
            </a:r>
            <a:endParaRPr lang="ko-KR" altLang="en-US" sz="1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45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External Torque Observer in Continuous Time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1558546" y="1890457"/>
                <a:ext cx="2676909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546" y="1890457"/>
                <a:ext cx="2676909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16492" y="802274"/>
                <a:ext cx="1651040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92" y="802274"/>
                <a:ext cx="165104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08179" y="1244544"/>
                <a:ext cx="2584168" cy="4733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̇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79" y="1244544"/>
                <a:ext cx="2584168" cy="47333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오른쪽 중괄호 17"/>
          <p:cNvSpPr/>
          <p:nvPr/>
        </p:nvSpPr>
        <p:spPr>
          <a:xfrm rot="5400000">
            <a:off x="2075952" y="1526138"/>
            <a:ext cx="187365" cy="2924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19" name="오른쪽 중괄호 18"/>
          <p:cNvSpPr/>
          <p:nvPr/>
        </p:nvSpPr>
        <p:spPr>
          <a:xfrm rot="5400000">
            <a:off x="1552247" y="1519826"/>
            <a:ext cx="187365" cy="32165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887989" y="2353711"/>
                <a:ext cx="5113800" cy="4733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ko-KR" sz="16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ko-KR" sz="1600" dirty="0" smtClean="0">
                    <a:latin typeface="Calibri (본문)"/>
                  </a:rPr>
                  <a:t> : skew symmetric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989" y="2353711"/>
                <a:ext cx="5113800" cy="473335"/>
              </a:xfrm>
              <a:prstGeom prst="rect">
                <a:avLst/>
              </a:prstGeom>
              <a:blipFill>
                <a:blip r:embed="rId5"/>
                <a:stretch>
                  <a:fillRect b="-2564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직선 화살표 연결선 20"/>
          <p:cNvCxnSpPr/>
          <p:nvPr/>
        </p:nvCxnSpPr>
        <p:spPr>
          <a:xfrm flipH="1" flipV="1">
            <a:off x="1627324" y="1812980"/>
            <a:ext cx="8312" cy="6567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 flipH="1" flipV="1">
            <a:off x="2186267" y="1812650"/>
            <a:ext cx="8312" cy="190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10164" y="2867374"/>
                <a:ext cx="5657892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164" y="2867374"/>
                <a:ext cx="5657892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08179" y="3378225"/>
                <a:ext cx="5657892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acc>
                        <m:accPr>
                          <m:chr m:val="̇"/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acc>
                        <m:accPr>
                          <m:chr m:val="̇"/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79" y="3378225"/>
                <a:ext cx="565789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오른쪽 중괄호 24"/>
          <p:cNvSpPr/>
          <p:nvPr/>
        </p:nvSpPr>
        <p:spPr>
          <a:xfrm rot="5400000">
            <a:off x="1070738" y="3690344"/>
            <a:ext cx="105763" cy="1650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cxnSp>
        <p:nvCxnSpPr>
          <p:cNvPr id="27" name="직선 화살표 연결선 26"/>
          <p:cNvCxnSpPr/>
          <p:nvPr/>
        </p:nvCxnSpPr>
        <p:spPr>
          <a:xfrm flipH="1" flipV="1">
            <a:off x="1123619" y="3878032"/>
            <a:ext cx="8312" cy="190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33118" y="3919152"/>
                <a:ext cx="1869282" cy="55239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box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118" y="3919152"/>
                <a:ext cx="1869282" cy="55239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60523" y="4180455"/>
                <a:ext cx="5657892" cy="9182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ko-KR" sz="1600" b="1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altLang="ko-KR" sz="1600" b="1" i="1">
                          <a:latin typeface="Cambria Math" panose="02040503050406030204" pitchFamily="18" charset="0"/>
                        </a:rPr>
                        <m:t>𝝀</m:t>
                      </m:r>
                      <m:nary>
                        <m:naryPr>
                          <m:ctrlPr>
                            <a:rPr lang="el-GR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sup>
                        <m:e>
                          <m:d>
                            <m:dPr>
                              <m:ctrlPr>
                                <a:rPr lang="el-GR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600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  <m:t>𝑪</m:t>
                                  </m:r>
                                </m:e>
                                <m:sup>
                                  <m: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acc>
                                <m:accPr>
                                  <m:chr m:val="̇"/>
                                  <m:ctrlP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  <m:t>𝒒</m:t>
                                  </m:r>
                                </m:e>
                              </m:acc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ko-KR" sz="16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ko-KR" altLang="en-US" sz="1600" b="1" i="1">
                                          <a:latin typeface="Cambria Math" panose="02040503050406030204" pitchFamily="18" charset="0"/>
                                        </a:rPr>
                                        <m:t>𝝉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600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sub>
                              </m:sSub>
                              <m:r>
                                <m:rPr>
                                  <m:nor/>
                                </m:rPr>
                                <a:rPr lang="en-US" altLang="ko-KR" sz="1600" b="1" dirty="0">
                                  <a:latin typeface="Calibri (본문)"/>
                                </a:rPr>
                                <m:t> </m:t>
                              </m:r>
                            </m:e>
                          </m:d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altLang="ko-KR" sz="1600" b="1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23" y="4180455"/>
                <a:ext cx="5657892" cy="9182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08179" y="4967262"/>
                <a:ext cx="2185144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:r>
                  <a:rPr lang="en-US" altLang="ko-KR" sz="1600" dirty="0" smtClean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600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en-US" altLang="ko-KR" sz="16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ko-KR" sz="1600" i="1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1600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</m:acc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79" y="4967262"/>
                <a:ext cx="2185144" cy="461665"/>
              </a:xfrm>
              <a:prstGeom prst="rect">
                <a:avLst/>
              </a:prstGeom>
              <a:blipFill>
                <a:blip r:embed="rId10"/>
                <a:stretch>
                  <a:fillRect b="-789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08179" y="5214372"/>
                <a:ext cx="4488876" cy="9182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sz="1600" i="1">
                          <a:latin typeface="Cambria Math" panose="02040503050406030204" pitchFamily="18" charset="0"/>
                        </a:rPr>
                        <m:t>λ</m:t>
                      </m:r>
                      <m:nary>
                        <m:naryPr>
                          <m:ctrlPr>
                            <a:rPr lang="el-GR" altLang="ko-K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d>
                            <m:dPr>
                              <m:ctrlPr>
                                <a:rPr lang="el-GR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acc>
                                <m:accPr>
                                  <m:chr m:val="̇"/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79" y="5214372"/>
                <a:ext cx="4488876" cy="9182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363296" y="6053590"/>
                <a:ext cx="5657892" cy="5495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1" i="1">
                                  <a:latin typeface="Cambria Math" panose="02040503050406030204" pitchFamily="18" charset="0"/>
                                </a:rPr>
                                <m:t>𝝉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sub>
                      </m:sSub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ko-KR" sz="1600" b="1" i="1">
                          <a:latin typeface="Cambria Math" panose="02040503050406030204" pitchFamily="18" charset="0"/>
                        </a:rPr>
                        <m:t>𝝀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𝒑</m:t>
                      </m:r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altLang="ko-KR" sz="1600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num>
                            <m:den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  <m:r>
                                <a:rPr lang="en-US" altLang="ko-KR" sz="16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l-GR" altLang="ko-KR" sz="1600" b="1" i="1">
                                  <a:latin typeface="Cambria Math" panose="02040503050406030204" pitchFamily="18" charset="0"/>
                                </a:rPr>
                                <m:t>𝝀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ko-KR" sz="1600" b="1" i="1"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b="1" i="1">
                              <a:latin typeface="Cambria Math" panose="02040503050406030204" pitchFamily="18" charset="0"/>
                            </a:rPr>
                            <m:t>𝝉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𝑪</m:t>
                              </m:r>
                            </m:e>
                            <m:sup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1" i="1">
                                  <a:latin typeface="Cambria Math" panose="02040503050406030204" pitchFamily="18" charset="0"/>
                                </a:rPr>
                                <m:t>𝒒</m:t>
                              </m:r>
                            </m:e>
                          </m:acc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</m:d>
                    </m:oMath>
                  </m:oMathPara>
                </a14:m>
                <a:endParaRPr lang="en-US" altLang="ko-KR" sz="1600" b="1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96" y="6053590"/>
                <a:ext cx="5657892" cy="5495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화살표 연결선 6"/>
          <p:cNvCxnSpPr/>
          <p:nvPr/>
        </p:nvCxnSpPr>
        <p:spPr>
          <a:xfrm>
            <a:off x="4356975" y="5752407"/>
            <a:ext cx="111169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5594483" y="5544625"/>
                <a:ext cx="2641044" cy="397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altLang="ko-KR" sz="16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l-GR" altLang="ko-KR" sz="16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ko-KR" sz="1600" b="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483" y="5544625"/>
                <a:ext cx="2641044" cy="39709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6624136" y="6328677"/>
            <a:ext cx="2011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cs typeface="Calibri" panose="020F0502020204030204" pitchFamily="34" charset="0"/>
              </a:rPr>
              <a:t>[</a:t>
            </a:r>
            <a:r>
              <a:rPr lang="en-US" altLang="ko-KR" sz="1400" dirty="0" err="1" smtClean="0">
                <a:cs typeface="Calibri" panose="020F0502020204030204" pitchFamily="34" charset="0"/>
              </a:rPr>
              <a:t>Bledt</a:t>
            </a:r>
            <a:r>
              <a:rPr lang="en-US" altLang="ko-KR" sz="1400" dirty="0" smtClean="0">
                <a:cs typeface="Calibri" panose="020F0502020204030204" pitchFamily="34" charset="0"/>
              </a:rPr>
              <a:t> et al., 2018, ICRA]</a:t>
            </a:r>
            <a:endParaRPr lang="ko-KR" altLang="en-US" sz="1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67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모서리가 둥근 직사각형 40"/>
          <p:cNvSpPr/>
          <p:nvPr/>
        </p:nvSpPr>
        <p:spPr>
          <a:xfrm>
            <a:off x="2201572" y="4110107"/>
            <a:ext cx="138425" cy="34006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1109835" y="4123964"/>
            <a:ext cx="138425" cy="34006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37"/>
          <p:cNvSpPr/>
          <p:nvPr/>
        </p:nvSpPr>
        <p:spPr>
          <a:xfrm>
            <a:off x="1581213" y="4123964"/>
            <a:ext cx="574157" cy="34006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모서리가 둥근 직사각형 1"/>
          <p:cNvSpPr/>
          <p:nvPr/>
        </p:nvSpPr>
        <p:spPr>
          <a:xfrm>
            <a:off x="1818115" y="2609460"/>
            <a:ext cx="337255" cy="34006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External Torque Observer in Discrete Time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142419" y="2425258"/>
                <a:ext cx="3814439" cy="5495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ko-KR" sz="1600" b="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l-GR" altLang="ko-KR" sz="16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num>
                            <m:den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l-GR" altLang="ko-KR" sz="16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ko-KR" sz="1600" b="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19" y="2425258"/>
                <a:ext cx="3814439" cy="5495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직선 화살표 연결선 6"/>
          <p:cNvCxnSpPr/>
          <p:nvPr/>
        </p:nvCxnSpPr>
        <p:spPr>
          <a:xfrm>
            <a:off x="1979535" y="3042718"/>
            <a:ext cx="7207" cy="10052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142419" y="801485"/>
                <a:ext cx="2941603" cy="46166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600" i="1" smtClean="0">
                          <a:latin typeface="Cambria Math" panose="02040503050406030204" pitchFamily="18" charset="0"/>
                        </a:rPr>
                        <m:t>𝑀</m:t>
                      </m:r>
                      <m:acc>
                        <m:accPr>
                          <m:chr m:val="̈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𝐶</m:t>
                      </m:r>
                      <m:acc>
                        <m:accPr>
                          <m:chr m:val="̇"/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419" y="801485"/>
                <a:ext cx="294160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직선 화살표 연결선 29"/>
          <p:cNvCxnSpPr/>
          <p:nvPr/>
        </p:nvCxnSpPr>
        <p:spPr>
          <a:xfrm>
            <a:off x="2331442" y="1152702"/>
            <a:ext cx="7207" cy="1216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5841" y="1374728"/>
            <a:ext cx="169952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Continuous time external torque observer : First order low pass filter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1918468" y="1508315"/>
                <a:ext cx="1805634" cy="55778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num>
                            <m:den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l-GR" altLang="ko-KR" sz="1600" i="1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600" b="0" i="1" smtClean="0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468" y="1508315"/>
                <a:ext cx="1805634" cy="5577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/>
          <p:cNvSpPr txBox="1"/>
          <p:nvPr/>
        </p:nvSpPr>
        <p:spPr>
          <a:xfrm>
            <a:off x="455841" y="3020219"/>
            <a:ext cx="136227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Convert filter to discrete time</a:t>
            </a:r>
          </a:p>
          <a:p>
            <a:r>
              <a:rPr lang="en-US" altLang="ko-KR" sz="1400" dirty="0" smtClean="0"/>
              <a:t>(S domain to Z domain)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148401" y="3946672"/>
                <a:ext cx="3814439" cy="5893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ko-KR" sz="1600" b="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altLang="ko-KR" sz="1600" b="0" i="1"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01" y="3946672"/>
                <a:ext cx="3814439" cy="5893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1613220" y="3218358"/>
                <a:ext cx="1492259" cy="47910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16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l-GR" altLang="ko-KR" sz="1600" i="1">
                              <a:latin typeface="Cambria Math" panose="02040503050406030204" pitchFamily="18" charset="0"/>
                            </a:rPr>
                            <m:t>λ</m:t>
                          </m:r>
                          <m:r>
                            <a:rPr lang="el-GR" altLang="ko-KR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220" y="3218358"/>
                <a:ext cx="1492259" cy="47910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모서리가 둥근 직사각형 42"/>
          <p:cNvSpPr/>
          <p:nvPr/>
        </p:nvSpPr>
        <p:spPr>
          <a:xfrm>
            <a:off x="7250167" y="4043610"/>
            <a:ext cx="138425" cy="34006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6158430" y="4057467"/>
            <a:ext cx="138425" cy="340066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모서리가 둥근 직사각형 44"/>
          <p:cNvSpPr/>
          <p:nvPr/>
        </p:nvSpPr>
        <p:spPr>
          <a:xfrm>
            <a:off x="6629808" y="4057467"/>
            <a:ext cx="574157" cy="340066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5196996" y="3888487"/>
                <a:ext cx="3888816" cy="107337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600" b="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l-GR" sz="1600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l-GR" sz="16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600" b="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600" b="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600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altLang="ko-KR" sz="1600" b="0" i="1" dirty="0" smtClean="0">
                  <a:latin typeface="Cambria Math" panose="02040503050406030204" pitchFamily="18" charset="0"/>
                </a:endParaRPr>
              </a:p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6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996" y="3888487"/>
                <a:ext cx="3888816" cy="10733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꺾인 연결선 48"/>
          <p:cNvCxnSpPr>
            <a:stCxn id="26" idx="3"/>
            <a:endCxn id="46" idx="0"/>
          </p:cNvCxnSpPr>
          <p:nvPr/>
        </p:nvCxnSpPr>
        <p:spPr>
          <a:xfrm>
            <a:off x="3084022" y="1032318"/>
            <a:ext cx="4057382" cy="28561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58777" y="2305168"/>
            <a:ext cx="1416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Apply discrete time filter</a:t>
            </a:r>
            <a:endParaRPr lang="ko-KR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6833759" y="2233134"/>
                <a:ext cx="1118738" cy="58939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lvl="1"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6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</m:oMath>
                  </m:oMathPara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759" y="2233134"/>
                <a:ext cx="1118738" cy="5893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그림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7305" y="4810483"/>
            <a:ext cx="4472765" cy="1709272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624136" y="6328677"/>
            <a:ext cx="20119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cs typeface="Calibri" panose="020F0502020204030204" pitchFamily="34" charset="0"/>
              </a:rPr>
              <a:t>[</a:t>
            </a:r>
            <a:r>
              <a:rPr lang="en-US" altLang="ko-KR" sz="1400" dirty="0" err="1" smtClean="0">
                <a:cs typeface="Calibri" panose="020F0502020204030204" pitchFamily="34" charset="0"/>
              </a:rPr>
              <a:t>Bledt</a:t>
            </a:r>
            <a:r>
              <a:rPr lang="en-US" altLang="ko-KR" sz="1400" dirty="0" smtClean="0">
                <a:cs typeface="Calibri" panose="020F0502020204030204" pitchFamily="34" charset="0"/>
              </a:rPr>
              <a:t> et al., 2018, ICRA]</a:t>
            </a:r>
            <a:endParaRPr lang="ko-KR" altLang="en-US" sz="1400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118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Experimental Result</a:t>
            </a:r>
            <a:endParaRPr lang="ko-KR" altLang="en-US" dirty="0">
              <a:latin typeface="+mn-lt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744" y="690940"/>
            <a:ext cx="1125969" cy="11168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/>
              <p:cNvSpPr/>
              <p:nvPr/>
            </p:nvSpPr>
            <p:spPr>
              <a:xfrm>
                <a:off x="125153" y="869703"/>
                <a:ext cx="735970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HCR5 ISO test with maximum velocity 100, maximum acceleration 2500 : 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직사각형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3" y="869703"/>
                <a:ext cx="7359707" cy="461665"/>
              </a:xfrm>
              <a:prstGeom prst="rect">
                <a:avLst/>
              </a:prstGeom>
              <a:blipFill>
                <a:blip r:embed="rId3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6" y="1808046"/>
            <a:ext cx="4573141" cy="342479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3119" y="1808046"/>
            <a:ext cx="4573141" cy="342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633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Experimental Result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직사각형 7"/>
              <p:cNvSpPr/>
              <p:nvPr/>
            </p:nvSpPr>
            <p:spPr>
              <a:xfrm>
                <a:off x="67445" y="869703"/>
                <a:ext cx="747512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1600" b="1" i="1">
                        <a:latin typeface="Cambria Math" panose="02040503050406030204" pitchFamily="18" charset="0"/>
                      </a:rPr>
                      <m:t>∎</m:t>
                    </m:r>
                  </m:oMath>
                </a14:m>
                <a:r>
                  <a:rPr lang="ko-KR" altLang="en-US" sz="1600" b="1" dirty="0">
                    <a:latin typeface="Calibri (본문)"/>
                  </a:rPr>
                  <a:t> </a:t>
                </a:r>
                <a:r>
                  <a:rPr lang="en-US" altLang="ko-KR" sz="1600" b="1" dirty="0" smtClean="0">
                    <a:latin typeface="Calibri (본문)"/>
                  </a:rPr>
                  <a:t>HCR5 ISO test with maximum velocity 1000, maximum acceleration 2500 : </a:t>
                </a:r>
                <a:endParaRPr lang="en-US" altLang="ko-KR" sz="1600" b="1" dirty="0">
                  <a:latin typeface="Calibri (본문)"/>
                </a:endParaRPr>
              </a:p>
            </p:txBody>
          </p:sp>
        </mc:Choice>
        <mc:Fallback xmlns="">
          <p:sp>
            <p:nvSpPr>
              <p:cNvPr id="8" name="직사각형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45" y="869703"/>
                <a:ext cx="7475123" cy="461665"/>
              </a:xfrm>
              <a:prstGeom prst="rect">
                <a:avLst/>
              </a:prstGeom>
              <a:blipFill>
                <a:blip r:embed="rId2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5" y="1783103"/>
            <a:ext cx="4573141" cy="3424794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426" y="1783105"/>
            <a:ext cx="4573141" cy="342479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8744" y="690940"/>
            <a:ext cx="1125969" cy="111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96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모서리가 둥근 직사각형 28"/>
          <p:cNvSpPr/>
          <p:nvPr/>
        </p:nvSpPr>
        <p:spPr>
          <a:xfrm>
            <a:off x="2713491" y="3314377"/>
            <a:ext cx="477885" cy="728962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ko-KR" altLang="en-US" dirty="0" smtClean="0">
                <a:latin typeface="+mn-lt"/>
              </a:rPr>
              <a:t>별첨</a:t>
            </a:r>
            <a:endParaRPr lang="ko-KR" altLang="en-US" dirty="0"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/>
              <p:nvPr/>
            </p:nvSpPr>
            <p:spPr>
              <a:xfrm>
                <a:off x="0" y="740833"/>
                <a:ext cx="4221763" cy="520912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742950" lvl="1" indent="-285750" algn="just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600" dirty="0" smtClean="0"/>
                  <a:t>Derive 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ko-KR" altLang="en-US" sz="1600" i="1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sup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box>
                  </m:oMath>
                </a14:m>
                <a:endParaRPr lang="en-US" altLang="ko-KR" sz="1600" dirty="0" smtClean="0">
                  <a:latin typeface="Calibri (본문)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151384C-E3F2-47BE-93DA-A9186DE7E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40833"/>
                <a:ext cx="4221763" cy="520912"/>
              </a:xfrm>
              <a:prstGeom prst="rect">
                <a:avLst/>
              </a:prstGeom>
              <a:blipFill>
                <a:blip r:embed="rId2"/>
                <a:stretch>
                  <a:fillRect b="-1058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91450" y="1005840"/>
                <a:ext cx="8211231" cy="11185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groupChr>
                        <m:groupChrPr>
                          <m:chr m:val="↔"/>
                          <m:vertJc m:val="bot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𝑖𝑓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+1=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groupCh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1200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box>
                    </m:oMath>
                  </m:oMathPara>
                </a14:m>
                <a:endParaRPr lang="en-US" altLang="ko-KR" sz="1200" dirty="0" smtClean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50" y="1005840"/>
                <a:ext cx="8211231" cy="1118511"/>
              </a:xfrm>
              <a:prstGeom prst="rect">
                <a:avLst/>
              </a:prstGeom>
              <a:blipFill>
                <a:blip r:embed="rId3"/>
                <a:stretch>
                  <a:fillRect l="-742" b="-1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직사각형 3"/>
              <p:cNvSpPr/>
              <p:nvPr/>
            </p:nvSpPr>
            <p:spPr>
              <a:xfrm>
                <a:off x="681641" y="2200256"/>
                <a:ext cx="1510477" cy="28033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𝐿𝑒𝑡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4" name="직사각형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641" y="2200256"/>
                <a:ext cx="1510477" cy="2803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직사각형 16"/>
              <p:cNvSpPr/>
              <p:nvPr/>
            </p:nvSpPr>
            <p:spPr>
              <a:xfrm>
                <a:off x="681088" y="2519102"/>
                <a:ext cx="2085635" cy="6118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x>
                        <m:box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num>
                            <m:den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sSup>
                                    <m:sSupPr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acc>
                            <m:accPr>
                              <m:chr m:val="̈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box>
                      <m:groupChr>
                        <m:groupChrPr>
                          <m:chr m:val="→"/>
                          <m:vertJc m:val="bot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sSup>
                            <m:sSup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groupChr>
                      <m:nary>
                        <m:naryPr>
                          <m:chr m:val="∑"/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̈"/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7" name="직사각형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88" y="2519102"/>
                <a:ext cx="2085635" cy="6118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663909" y="3137361"/>
                <a:ext cx="6392904" cy="6118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box>
                            <m:box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ko-KR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</m:e>
                          </m:box>
                        </m:e>
                      </m:nary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 </m:t>
                      </m:r>
                      <m:box>
                        <m:box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box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box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box>
                            <m:box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r>
                                        <a:rPr lang="ko-KR" altLang="en-US" sz="12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̇"/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2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ko-KR" altLang="en-US" sz="1200" i="1">
                                          <a:latin typeface="Cambria Math" panose="02040503050406030204" pitchFamily="18" charset="0"/>
                                        </a:rPr>
                                        <m:t>𝛾</m:t>
                                      </m:r>
                                    </m:e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box>
                        </m:e>
                      </m:nary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909" y="3137361"/>
                <a:ext cx="6392904" cy="61183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오른쪽 중괄호 18"/>
          <p:cNvSpPr/>
          <p:nvPr/>
        </p:nvSpPr>
        <p:spPr>
          <a:xfrm rot="5400000">
            <a:off x="2801395" y="3511510"/>
            <a:ext cx="249383" cy="42812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0" name="오른쪽 중괄호 19"/>
          <p:cNvSpPr/>
          <p:nvPr/>
        </p:nvSpPr>
        <p:spPr>
          <a:xfrm rot="5400000">
            <a:off x="3328046" y="3437810"/>
            <a:ext cx="249383" cy="57553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1" name="오른쪽 중괄호 20"/>
          <p:cNvSpPr/>
          <p:nvPr/>
        </p:nvSpPr>
        <p:spPr>
          <a:xfrm rot="5400000">
            <a:off x="4137153" y="3380149"/>
            <a:ext cx="249383" cy="696397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22" name="오른쪽 중괄호 21"/>
          <p:cNvSpPr/>
          <p:nvPr/>
        </p:nvSpPr>
        <p:spPr>
          <a:xfrm rot="5400000">
            <a:off x="5910542" y="2721042"/>
            <a:ext cx="249383" cy="198690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781491" y="3867955"/>
                <a:ext cx="29110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≜</m:t>
                      </m:r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1491" y="3867955"/>
                <a:ext cx="291105" cy="184666"/>
              </a:xfrm>
              <a:prstGeom prst="rect">
                <a:avLst/>
              </a:prstGeom>
              <a:blipFill>
                <a:blip r:embed="rId7"/>
                <a:stretch>
                  <a:fillRect l="-10417" t="-6667" r="-16667" b="-3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316276" y="3862415"/>
                <a:ext cx="28187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6276" y="3862415"/>
                <a:ext cx="281872" cy="184666"/>
              </a:xfrm>
              <a:prstGeom prst="rect">
                <a:avLst/>
              </a:prstGeom>
              <a:blipFill>
                <a:blip r:embed="rId8"/>
                <a:stretch>
                  <a:fillRect l="-6522" r="-13043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3930803" y="3859607"/>
                <a:ext cx="101624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=0(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r>
                  <a:rPr lang="ko-KR" altLang="en-US" sz="1200" dirty="0" smtClean="0"/>
                  <a:t> 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0803" y="3859607"/>
                <a:ext cx="1016240" cy="184666"/>
              </a:xfrm>
              <a:prstGeom prst="rect">
                <a:avLst/>
              </a:prstGeom>
              <a:blipFill>
                <a:blip r:embed="rId9"/>
                <a:stretch>
                  <a:fillRect l="-3593" t="-3333" r="-2395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5231494" y="3859607"/>
                <a:ext cx="3295005" cy="92006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ko-KR" altLang="en-US" sz="1200" i="1" smtClean="0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p>
                        <m:sSup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p>
                        <m:sSup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p>
                        <m:sSup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</m:e>
                              </m:d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sz="12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box>
                        <m:boxPr>
                          <m:ctrlPr>
                            <a:rPr lang="ko-KR" altLang="en-US" sz="12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</m:e>
                      </m:box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ko-KR" altLang="en-US" sz="1200" b="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sSub>
                        <m:sSub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494" y="3859607"/>
                <a:ext cx="3295005" cy="920060"/>
              </a:xfrm>
              <a:prstGeom prst="rect">
                <a:avLst/>
              </a:prstGeom>
              <a:blipFill>
                <a:blip r:embed="rId10"/>
                <a:stretch>
                  <a:fillRect l="-1109" b="-132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직사각형 11"/>
              <p:cNvSpPr/>
              <p:nvPr/>
            </p:nvSpPr>
            <p:spPr>
              <a:xfrm>
                <a:off x="2418310" y="4633291"/>
                <a:ext cx="6584371" cy="113133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1200" i="1" smtClean="0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box>
                            <m:box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63"/>
                                    </m:rP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altLang="ko-KR" sz="12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d>
                                            <m:dPr>
                                              <m:ctrlPr>
                                                <a:rPr lang="en-US" altLang="ko-KR" sz="12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12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altLang="ko-KR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+1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1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1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num>
                                        <m:den>
                                          <m:r>
                                            <a:rPr lang="en-US" altLang="ko-KR" sz="12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∆</m:t>
                                          </m:r>
                                          <m:r>
                                            <a:rPr lang="en-US" altLang="ko-KR" sz="1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den>
                                      </m:f>
                                    </m:e>
                                  </m:box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200" b="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box>
                        </m:e>
                      </m:nary>
                    </m:oMath>
                  </m:oMathPara>
                </a14:m>
                <a:endParaRPr lang="en-US" altLang="ko-KR" sz="120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ko-KR" altLang="en-US" sz="1200" i="1"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box>
                            <m:box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m:rPr>
                                      <m:brk m:alnAt="63"/>
                                    </m:r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12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R" sz="12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̇"/>
                                          <m:ctrlP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ko-KR" sz="1200" i="1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ko-KR" altLang="en-US" sz="12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>
                                    <m:sSubPr>
                                      <m:ctrlP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altLang="ko-KR" sz="12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box>
                        </m:e>
                      </m:nary>
                      <m:groupChr>
                        <m:groupChrPr>
                          <m:chr m:val="→"/>
                          <m:vertJc m:val="bot"/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groupChr>
                      <m:r>
                        <a:rPr lang="en-US" altLang="ko-KR" sz="12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̇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</m:oMathPara>
                </a14:m>
                <a:endParaRPr lang="en-US" altLang="ko-KR" sz="1200" dirty="0"/>
              </a:p>
            </p:txBody>
          </p:sp>
        </mc:Choice>
        <mc:Fallback xmlns="">
          <p:sp>
            <p:nvSpPr>
              <p:cNvPr id="12" name="직사각형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310" y="4633291"/>
                <a:ext cx="6584371" cy="11313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직사각형 27"/>
              <p:cNvSpPr/>
              <p:nvPr/>
            </p:nvSpPr>
            <p:spPr>
              <a:xfrm>
                <a:off x="680949" y="5728883"/>
                <a:ext cx="7744364" cy="4796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acc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d>
                        <m:d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acc>
                            <m:accPr>
                              <m:chr m:val="̈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̇"/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l-GR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β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altLang="ko-KR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𝛾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28" name="직사각형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949" y="5728883"/>
                <a:ext cx="7744364" cy="479618"/>
              </a:xfrm>
              <a:prstGeom prst="rect">
                <a:avLst/>
              </a:prstGeom>
              <a:blipFill>
                <a:blip r:embed="rId12"/>
                <a:stretch>
                  <a:fillRect b="-12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직사각형 12"/>
              <p:cNvSpPr/>
              <p:nvPr/>
            </p:nvSpPr>
            <p:spPr>
              <a:xfrm>
                <a:off x="1054589" y="6140538"/>
                <a:ext cx="2451569" cy="4655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l-GR" sz="1200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200" i="1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num>
                            <m:den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ko-KR" altLang="en-US" sz="12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sSup>
                                <m:sSup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</m:e>
                      </m:box>
                      <m:d>
                        <m:dPr>
                          <m:ctrlPr>
                            <a:rPr lang="en-US" altLang="ko-KR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l-GR" sz="1200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ko-KR" altLang="en-US" sz="1200" i="1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p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acc>
                            <m:accPr>
                              <m:chr m:val="̇"/>
                              <m:ctrlP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sz="12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</m:oMath>
                  </m:oMathPara>
                </a14:m>
                <a:endParaRPr lang="en-US" altLang="ko-KR" sz="12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직사각형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589" y="6140538"/>
                <a:ext cx="2451569" cy="46551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0582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BF0FB3AA-859D-4B84-BDDE-86F6AD550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40" y="99346"/>
            <a:ext cx="9032860" cy="490066"/>
          </a:xfrm>
        </p:spPr>
        <p:txBody>
          <a:bodyPr/>
          <a:lstStyle/>
          <a:p>
            <a:r>
              <a:rPr lang="en-US" altLang="ko-KR" dirty="0" smtClean="0">
                <a:latin typeface="+mn-lt"/>
              </a:rPr>
              <a:t>References</a:t>
            </a:r>
            <a:endParaRPr lang="ko-KR" altLang="en-US" dirty="0">
              <a:latin typeface="+mn-lt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98764" y="1097248"/>
            <a:ext cx="788877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1600" dirty="0" smtClean="0">
                <a:solidFill>
                  <a:srgbClr val="333333"/>
                </a:solidFill>
              </a:rPr>
              <a:t>De </a:t>
            </a:r>
            <a:r>
              <a:rPr lang="en-US" altLang="ko-KR" sz="1600" dirty="0">
                <a:solidFill>
                  <a:srgbClr val="333333"/>
                </a:solidFill>
              </a:rPr>
              <a:t>Luca, A. </a:t>
            </a:r>
            <a:r>
              <a:rPr lang="en-US" altLang="ko-KR" sz="1600" dirty="0" err="1">
                <a:solidFill>
                  <a:srgbClr val="333333"/>
                </a:solidFill>
              </a:rPr>
              <a:t>Albu</a:t>
            </a:r>
            <a:r>
              <a:rPr lang="en-US" altLang="ko-KR" sz="1600" dirty="0">
                <a:solidFill>
                  <a:srgbClr val="333333"/>
                </a:solidFill>
              </a:rPr>
              <a:t>-Schaffer, S. </a:t>
            </a:r>
            <a:r>
              <a:rPr lang="en-US" altLang="ko-KR" sz="1600" dirty="0" err="1">
                <a:solidFill>
                  <a:srgbClr val="333333"/>
                </a:solidFill>
              </a:rPr>
              <a:t>Haddadin</a:t>
            </a:r>
            <a:r>
              <a:rPr lang="en-US" altLang="ko-KR" sz="1600" dirty="0">
                <a:solidFill>
                  <a:srgbClr val="333333"/>
                </a:solidFill>
              </a:rPr>
              <a:t> and G. </a:t>
            </a:r>
            <a:r>
              <a:rPr lang="en-US" altLang="ko-KR" sz="1600" dirty="0" err="1">
                <a:solidFill>
                  <a:srgbClr val="333333"/>
                </a:solidFill>
              </a:rPr>
              <a:t>Hirzinger</a:t>
            </a:r>
            <a:r>
              <a:rPr lang="en-US" altLang="ko-KR" sz="1600" dirty="0">
                <a:solidFill>
                  <a:srgbClr val="333333"/>
                </a:solidFill>
              </a:rPr>
              <a:t>, "Collision Detection and Safe Reaction with the DLR-III Lightweight Manipulator Arm," </a:t>
            </a:r>
            <a:r>
              <a:rPr lang="en-US" altLang="ko-KR" sz="1600" i="1" dirty="0">
                <a:solidFill>
                  <a:srgbClr val="333333"/>
                </a:solidFill>
              </a:rPr>
              <a:t>2006 IEEE/RSJ International Conference on Intelligent Robots and Systems</a:t>
            </a:r>
            <a:r>
              <a:rPr lang="en-US" altLang="ko-KR" sz="1600" dirty="0">
                <a:solidFill>
                  <a:srgbClr val="333333"/>
                </a:solidFill>
              </a:rPr>
              <a:t>, Beijing, China, 2006, pp. 1623-1630, </a:t>
            </a:r>
            <a:r>
              <a:rPr lang="en-US" altLang="ko-KR" sz="1600" dirty="0" err="1">
                <a:solidFill>
                  <a:srgbClr val="333333"/>
                </a:solidFill>
              </a:rPr>
              <a:t>doi</a:t>
            </a:r>
            <a:r>
              <a:rPr lang="en-US" altLang="ko-KR" sz="1600" dirty="0">
                <a:solidFill>
                  <a:srgbClr val="333333"/>
                </a:solidFill>
              </a:rPr>
              <a:t>: 10.1109/IROS.2006.282053</a:t>
            </a:r>
            <a:r>
              <a:rPr lang="en-US" altLang="ko-KR" sz="1600" dirty="0" smtClean="0">
                <a:solidFill>
                  <a:srgbClr val="333333"/>
                </a:solidFill>
              </a:rPr>
              <a:t>.</a:t>
            </a:r>
          </a:p>
          <a:p>
            <a:pPr marL="342900" indent="-342900">
              <a:buAutoNum type="arabicPeriod"/>
            </a:pPr>
            <a:endParaRPr lang="en-US" altLang="ko-KR" sz="1600" dirty="0" smtClean="0">
              <a:solidFill>
                <a:srgbClr val="333333"/>
              </a:solidFill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sz="1600" dirty="0">
                <a:solidFill>
                  <a:srgbClr val="333333"/>
                </a:solidFill>
              </a:rPr>
              <a:t>G. </a:t>
            </a:r>
            <a:r>
              <a:rPr lang="en-US" altLang="ko-KR" sz="1600" dirty="0" err="1">
                <a:solidFill>
                  <a:srgbClr val="333333"/>
                </a:solidFill>
              </a:rPr>
              <a:t>Bledt</a:t>
            </a:r>
            <a:r>
              <a:rPr lang="en-US" altLang="ko-KR" sz="1600" dirty="0">
                <a:solidFill>
                  <a:srgbClr val="333333"/>
                </a:solidFill>
              </a:rPr>
              <a:t>, P. M. </a:t>
            </a:r>
            <a:r>
              <a:rPr lang="en-US" altLang="ko-KR" sz="1600" dirty="0" err="1">
                <a:solidFill>
                  <a:srgbClr val="333333"/>
                </a:solidFill>
              </a:rPr>
              <a:t>Wensing</a:t>
            </a:r>
            <a:r>
              <a:rPr lang="en-US" altLang="ko-KR" sz="1600" dirty="0">
                <a:solidFill>
                  <a:srgbClr val="333333"/>
                </a:solidFill>
              </a:rPr>
              <a:t>, S. Ingersoll and S. Kim, "Contact Model Fusion for Event-Based Locomotion in Unstructured Terrains," </a:t>
            </a:r>
            <a:r>
              <a:rPr lang="en-US" altLang="ko-KR" sz="1600" i="1" dirty="0">
                <a:solidFill>
                  <a:srgbClr val="333333"/>
                </a:solidFill>
              </a:rPr>
              <a:t>2018 IEEE International Conference on Robotics and Automation (ICRA)</a:t>
            </a:r>
            <a:r>
              <a:rPr lang="en-US" altLang="ko-KR" sz="1600" dirty="0">
                <a:solidFill>
                  <a:srgbClr val="333333"/>
                </a:solidFill>
              </a:rPr>
              <a:t>, Brisbane, QLD, Australia, 2018, pp. 4399-4406, </a:t>
            </a:r>
            <a:r>
              <a:rPr lang="en-US" altLang="ko-KR" sz="1600" dirty="0" err="1">
                <a:solidFill>
                  <a:srgbClr val="333333"/>
                </a:solidFill>
              </a:rPr>
              <a:t>doi</a:t>
            </a:r>
            <a:r>
              <a:rPr lang="en-US" altLang="ko-KR" sz="1600" dirty="0">
                <a:solidFill>
                  <a:srgbClr val="333333"/>
                </a:solidFill>
              </a:rPr>
              <a:t>: 10.1109/ICRA.2018.8460904.</a:t>
            </a:r>
            <a:endParaRPr lang="ko-KR" altLang="en-US" sz="1600" dirty="0"/>
          </a:p>
          <a:p>
            <a:pPr marL="342900" indent="-342900">
              <a:buAutoNum type="arabicPeriod"/>
            </a:pP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91813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>
            <a:extLst>
              <a:ext uri="{FF2B5EF4-FFF2-40B4-BE49-F238E27FC236}">
                <a16:creationId xmlns:a16="http://schemas.microsoft.com/office/drawing/2014/main" id="{FB2EE3E3-BD0C-4EF5-814D-31BB02E1C6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5132" y="1382422"/>
            <a:ext cx="7772400" cy="2387600"/>
          </a:xfrm>
        </p:spPr>
        <p:txBody>
          <a:bodyPr/>
          <a:lstStyle/>
          <a:p>
            <a:r>
              <a:rPr lang="en-US" altLang="ko-KR" sz="7200" dirty="0">
                <a:latin typeface="+mn-lt"/>
              </a:rPr>
              <a:t>Thank you</a:t>
            </a:r>
            <a:endParaRPr lang="ko-KR" altLang="en-US" sz="72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03030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yV0I66vy.EWDO1ev4_h69Q"/>
</p:tagLst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5793</TotalTime>
  <Words>306</Words>
  <Application>Microsoft Office PowerPoint</Application>
  <PresentationFormat>화면 슬라이드 쇼(4:3)</PresentationFormat>
  <Paragraphs>80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Calibri (본문)</vt:lpstr>
      <vt:lpstr>맑은 고딕</vt:lpstr>
      <vt:lpstr>Arial</vt:lpstr>
      <vt:lpstr>Calibri</vt:lpstr>
      <vt:lpstr>Cambria Math</vt:lpstr>
      <vt:lpstr>Times New Roman</vt:lpstr>
      <vt:lpstr>Wingdings</vt:lpstr>
      <vt:lpstr>Office 테마</vt:lpstr>
      <vt:lpstr>Robot Collision Detection</vt:lpstr>
      <vt:lpstr>Robot Dynamics</vt:lpstr>
      <vt:lpstr>External Torque Observer in Continuous Time</vt:lpstr>
      <vt:lpstr>External Torque Observer in Discrete Time</vt:lpstr>
      <vt:lpstr>Experimental Result</vt:lpstr>
      <vt:lpstr>Experimental Result</vt:lpstr>
      <vt:lpstr>별첨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Geniuschw_송창우</dc:creator>
  <cp:lastModifiedBy>HANHWA</cp:lastModifiedBy>
  <cp:revision>337</cp:revision>
  <dcterms:created xsi:type="dcterms:W3CDTF">2017-03-09T08:42:38Z</dcterms:created>
  <dcterms:modified xsi:type="dcterms:W3CDTF">2023-12-10T22:26:28Z</dcterms:modified>
</cp:coreProperties>
</file>