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71" r:id="rId3"/>
    <p:sldId id="277" r:id="rId4"/>
    <p:sldId id="279" r:id="rId5"/>
    <p:sldId id="278" r:id="rId6"/>
    <p:sldId id="281" r:id="rId7"/>
    <p:sldId id="266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bot" initials="r" lastIdx="1" clrIdx="0">
    <p:extLst>
      <p:ext uri="{19B8F6BF-5375-455C-9EA6-DF929625EA0E}">
        <p15:presenceInfo xmlns:p15="http://schemas.microsoft.com/office/powerpoint/2012/main" userId="robo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59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74239" autoAdjust="0"/>
  </p:normalViewPr>
  <p:slideViewPr>
    <p:cSldViewPr snapToGrid="0">
      <p:cViewPr varScale="1">
        <p:scale>
          <a:sx n="87" d="100"/>
          <a:sy n="87" d="100"/>
        </p:scale>
        <p:origin x="131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6259A-4051-4682-9DFB-D810BA2C0E85}" type="datetimeFigureOut">
              <a:rPr lang="ko-KR" altLang="en-US" smtClean="0"/>
              <a:t>2023-12-04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A7749-7FF1-4233-B330-B5BE91383E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889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Hello Thank you for inviting me first.</a:t>
            </a:r>
          </a:p>
          <a:p>
            <a:r>
              <a:rPr lang="en-US" altLang="ko-KR" dirty="0"/>
              <a:t>I hope Hanwha and Schaeffler can help each other.</a:t>
            </a:r>
          </a:p>
          <a:p>
            <a:r>
              <a:rPr lang="en-US" altLang="ko-KR" dirty="0"/>
              <a:t>I will briefly introduce myself.</a:t>
            </a:r>
          </a:p>
          <a:p>
            <a:r>
              <a:rPr lang="en-US" altLang="ko-KR" dirty="0"/>
              <a:t>I am Bae Gang-</a:t>
            </a:r>
            <a:r>
              <a:rPr lang="en-US" altLang="ko-KR" dirty="0" err="1"/>
              <a:t>tae</a:t>
            </a:r>
            <a:r>
              <a:rPr lang="en-US" altLang="ko-KR" dirty="0"/>
              <a:t>, research engineer at Hanwha Precision Machinery Robot Division.</a:t>
            </a:r>
          </a:p>
          <a:p>
            <a:r>
              <a:rPr lang="en-US" altLang="ko-KR" dirty="0"/>
              <a:t>As you have seen at the last meeting in </a:t>
            </a:r>
            <a:r>
              <a:rPr lang="en-US" altLang="ko-KR" dirty="0" err="1"/>
              <a:t>korea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this is the leader engineer </a:t>
            </a:r>
            <a:r>
              <a:rPr lang="en-US" altLang="ko-KR" dirty="0" err="1"/>
              <a:t>Mr</a:t>
            </a:r>
            <a:r>
              <a:rPr lang="en-US" altLang="ko-KR" dirty="0"/>
              <a:t> lee in the algorithm part</a:t>
            </a:r>
          </a:p>
          <a:p>
            <a:endParaRPr lang="en-US" altLang="ko-KR" dirty="0"/>
          </a:p>
          <a:p>
            <a:r>
              <a:rPr lang="en-US" altLang="ko-KR" dirty="0"/>
              <a:t>Today we will go over what we need to worry about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A7749-7FF1-4233-B330-B5BE91383E8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675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appreciate for listening</a:t>
            </a:r>
            <a:endParaRPr lang="ko-KR" altLang="en-US" dirty="0"/>
          </a:p>
          <a:p>
            <a:r>
              <a:rPr lang="en-US" altLang="ko-KR" dirty="0"/>
              <a:t>Anything else question?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A7749-7FF1-4233-B330-B5BE91383E8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652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9C3D0B-4713-49DC-BCEA-A9FC879802B4}" type="datetimeFigureOut">
              <a:rPr lang="ko-KR" altLang="en-US" smtClean="0"/>
              <a:t>2023-12-04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34A41CF-331A-463F-8B91-7D686BCE03C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 bwMode="auto">
          <a:xfrm>
            <a:off x="0" y="1"/>
            <a:ext cx="9144000" cy="685799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en-US" sz="1200" dirty="0">
              <a:solidFill>
                <a:srgbClr val="000000"/>
              </a:solidFill>
              <a:cs typeface="Arial" charset="0"/>
            </a:endParaRPr>
          </a:p>
        </p:txBody>
      </p:sp>
      <p:pic>
        <p:nvPicPr>
          <p:cNvPr id="9" name="Picture 3" descr="마크컬러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202978" y="229518"/>
            <a:ext cx="1585481" cy="501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9"/>
          <p:cNvPicPr>
            <a:picLocks noChangeAspect="1" noChangeArrowheads="1"/>
          </p:cNvPicPr>
          <p:nvPr userDrawn="1"/>
        </p:nvPicPr>
        <p:blipFill>
          <a:blip r:embed="rId3"/>
          <a:srcRect l="48229" t="39221" r="13542" b="6407"/>
          <a:stretch>
            <a:fillRect/>
          </a:stretch>
        </p:blipFill>
        <p:spPr bwMode="auto">
          <a:xfrm>
            <a:off x="4140200" y="2544084"/>
            <a:ext cx="4660900" cy="398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21101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개체 틀 1"/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880930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개체 틀 1"/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219628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7240-CD16-42E9-9EA1-78AE035C52CF}" type="datetimeFigureOut">
              <a:rPr lang="ko-KR" altLang="en-US" smtClean="0"/>
              <a:t>2023-12-04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6F8D9-4148-439F-B8E5-DC67DA6FB2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364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3393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8818363" y="6604327"/>
            <a:ext cx="323808" cy="22826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5890D3D4-E888-42C7-B0A0-6BABD1A7762D}" type="slidenum">
              <a:rPr lang="en-US" altLang="ko-KR" sz="900">
                <a:solidFill>
                  <a:srgbClr val="000000"/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900" dirty="0">
              <a:solidFill>
                <a:srgbClr val="000000"/>
              </a:solidFill>
            </a:endParaRPr>
          </a:p>
        </p:txBody>
      </p:sp>
      <p:sp>
        <p:nvSpPr>
          <p:cNvPr id="8" name="제목 개체 틀 1"/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82305"/>
            <a:ext cx="9144000" cy="0"/>
          </a:xfrm>
          <a:prstGeom prst="line">
            <a:avLst/>
          </a:prstGeom>
          <a:ln w="38100">
            <a:solidFill>
              <a:srgbClr val="F373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966732" y="180975"/>
            <a:ext cx="1177268" cy="33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3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7901467" y="6604327"/>
            <a:ext cx="791884" cy="22826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solidFill>
                  <a:srgbClr val="000000"/>
                </a:solidFill>
              </a:rPr>
              <a:t>Confidential</a:t>
            </a:r>
          </a:p>
        </p:txBody>
      </p:sp>
      <p:sp>
        <p:nvSpPr>
          <p:cNvPr id="12" name="Rectangle 13"/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auto">
          <a:xfrm>
            <a:off x="8653438" y="6589813"/>
            <a:ext cx="209994" cy="22826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</a:rPr>
              <a:t>|</a:t>
            </a:r>
          </a:p>
        </p:txBody>
      </p:sp>
      <p:cxnSp>
        <p:nvCxnSpPr>
          <p:cNvPr id="13" name="직선 연결선 12"/>
          <p:cNvCxnSpPr/>
          <p:nvPr userDrawn="1"/>
        </p:nvCxnSpPr>
        <p:spPr bwMode="auto">
          <a:xfrm flipH="1">
            <a:off x="61546" y="6600810"/>
            <a:ext cx="857250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875395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400" dirty="0" smtClean="0">
                <a:latin typeface="+mn-lt"/>
              </a:rPr>
              <a:t>Robot Force Control</a:t>
            </a:r>
            <a:endParaRPr lang="ko-KR" altLang="en-US" b="0" dirty="0">
              <a:latin typeface="+mn-lt"/>
            </a:endParaRP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1509F976-3C0C-479D-9D31-9BA3A4A6B8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Direct Control Method / Indirect Control Method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0582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모서리가 둥근 직사각형 88"/>
          <p:cNvSpPr/>
          <p:nvPr/>
        </p:nvSpPr>
        <p:spPr>
          <a:xfrm>
            <a:off x="2677886" y="4080374"/>
            <a:ext cx="2853943" cy="85966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alibri (본문)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BF0FB3AA-859D-4B84-BDDE-86F6AD55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</p:spPr>
        <p:txBody>
          <a:bodyPr/>
          <a:lstStyle/>
          <a:p>
            <a:r>
              <a:rPr lang="en-US" altLang="ko-KR" dirty="0" smtClean="0">
                <a:latin typeface="+mn-lt"/>
              </a:rPr>
              <a:t>Robot Dynamics</a:t>
            </a:r>
            <a:endParaRPr lang="ko-KR" alt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353479" y="1629527"/>
                <a:ext cx="6504521" cy="46833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acc>
                        <m:accPr>
                          <m:chr m:val="̈"/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lang="en-US" altLang="ko-K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acc>
                        <m:accPr>
                          <m:chr m:val="̇"/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− </m:t>
                      </m:r>
                      <m:sSup>
                        <m:sSup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 , 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̇"/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̈"/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altLang="ko-KR" sz="1600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9" y="1629527"/>
                <a:ext cx="6504521" cy="4683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직선 화살표 연결선 5"/>
          <p:cNvCxnSpPr/>
          <p:nvPr/>
        </p:nvCxnSpPr>
        <p:spPr>
          <a:xfrm flipH="1" flipV="1">
            <a:off x="3408216" y="2127840"/>
            <a:ext cx="8312" cy="407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flipH="1" flipV="1">
            <a:off x="4358642" y="2127840"/>
            <a:ext cx="8312" cy="407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39190" y="2567504"/>
            <a:ext cx="1067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Calibri (본문)"/>
              </a:rPr>
              <a:t>Input torque</a:t>
            </a:r>
            <a:endParaRPr lang="ko-KR" altLang="en-US" sz="1200" dirty="0">
              <a:latin typeface="Calibri (본문)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75060" y="2564230"/>
            <a:ext cx="1125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Calibri (본문)"/>
              </a:rPr>
              <a:t>Contact force</a:t>
            </a:r>
            <a:endParaRPr lang="ko-KR" altLang="en-US" sz="1200" dirty="0">
              <a:latin typeface="Calibri (본문)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/>
              <p:cNvSpPr/>
              <p:nvPr/>
            </p:nvSpPr>
            <p:spPr>
              <a:xfrm>
                <a:off x="353479" y="3301468"/>
                <a:ext cx="2771208" cy="4147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Torque-controlled robot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10" name="직사각형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9" y="3301468"/>
                <a:ext cx="2771208" cy="414729"/>
              </a:xfrm>
              <a:prstGeom prst="rect">
                <a:avLst/>
              </a:prstGeom>
              <a:blipFill>
                <a:blip r:embed="rId3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그룹 87"/>
          <p:cNvGrpSpPr/>
          <p:nvPr/>
        </p:nvGrpSpPr>
        <p:grpSpPr>
          <a:xfrm>
            <a:off x="1481242" y="4251736"/>
            <a:ext cx="6017468" cy="1291414"/>
            <a:chOff x="1481242" y="3969103"/>
            <a:chExt cx="6017468" cy="1291414"/>
          </a:xfrm>
        </p:grpSpPr>
        <p:sp>
          <p:nvSpPr>
            <p:cNvPr id="12" name="TextBox 11"/>
            <p:cNvSpPr txBox="1"/>
            <p:nvPr/>
          </p:nvSpPr>
          <p:spPr>
            <a:xfrm>
              <a:off x="1481242" y="3994348"/>
              <a:ext cx="997527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 smtClean="0">
                  <a:latin typeface="Calibri (본문)"/>
                </a:rPr>
                <a:t>Torque controller</a:t>
              </a:r>
              <a:endParaRPr lang="ko-KR" altLang="en-US" sz="1400" dirty="0">
                <a:latin typeface="Calibri (본문)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844142" y="3977779"/>
              <a:ext cx="722955" cy="55496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 smtClean="0">
                  <a:latin typeface="Calibri (본문)"/>
                </a:rPr>
                <a:t>Robot</a:t>
              </a:r>
            </a:p>
            <a:p>
              <a:pPr algn="ctr"/>
              <a:endParaRPr lang="ko-KR" altLang="en-US" sz="1400" dirty="0">
                <a:latin typeface="Calibri (본문)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3928102" y="3969103"/>
                  <a:ext cx="547971" cy="56509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lang="ko-KR" altLang="en-US" sz="14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acc>
                              <m:accPr>
                                <m:chr m:val="̈"/>
                                <m:ctrlPr>
                                  <a:rPr lang="en-US" altLang="ko-KR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acc>
                          </m:e>
                        </m:nary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oMath>
                    </m:oMathPara>
                  </a14:m>
                  <a:endParaRPr lang="ko-KR" altLang="en-US" sz="1400" dirty="0">
                    <a:latin typeface="Calibri (본문)"/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8102" y="3969103"/>
                  <a:ext cx="547971" cy="56509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직선 화살표 연결선 18"/>
            <p:cNvCxnSpPr>
              <a:stCxn id="12" idx="3"/>
              <a:endCxn id="40" idx="1"/>
            </p:cNvCxnSpPr>
            <p:nvPr/>
          </p:nvCxnSpPr>
          <p:spPr>
            <a:xfrm flipV="1">
              <a:off x="2478769" y="4255264"/>
              <a:ext cx="365373" cy="69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화살표 연결선 49"/>
            <p:cNvCxnSpPr>
              <a:stCxn id="40" idx="3"/>
              <a:endCxn id="13" idx="1"/>
            </p:cNvCxnSpPr>
            <p:nvPr/>
          </p:nvCxnSpPr>
          <p:spPr>
            <a:xfrm flipV="1">
              <a:off x="3567097" y="4251649"/>
              <a:ext cx="361005" cy="36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4847497" y="3969103"/>
                  <a:ext cx="547971" cy="56509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lang="ko-KR" altLang="en-US" sz="14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acc>
                              <m:accPr>
                                <m:chr m:val="̇"/>
                                <m:ctrlPr>
                                  <a:rPr lang="en-US" altLang="ko-KR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acc>
                          </m:e>
                        </m:nary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oMath>
                    </m:oMathPara>
                  </a14:m>
                  <a:endParaRPr lang="ko-KR" altLang="en-US" sz="1400" dirty="0">
                    <a:latin typeface="Calibri (본문)"/>
                  </a:endParaRPr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7497" y="3969103"/>
                  <a:ext cx="547971" cy="56509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직선 화살표 연결선 54"/>
            <p:cNvCxnSpPr>
              <a:stCxn id="13" idx="3"/>
              <a:endCxn id="54" idx="1"/>
            </p:cNvCxnSpPr>
            <p:nvPr/>
          </p:nvCxnSpPr>
          <p:spPr>
            <a:xfrm>
              <a:off x="4476073" y="4251649"/>
              <a:ext cx="37142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>
              <a:off x="2827122" y="4952740"/>
              <a:ext cx="7806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 smtClean="0">
                  <a:latin typeface="Calibri (본문)"/>
                </a:rPr>
                <a:t>Sensor</a:t>
              </a:r>
              <a:endParaRPr lang="ko-KR" altLang="en-US" sz="1400" dirty="0">
                <a:latin typeface="Calibri (본문)"/>
              </a:endParaRPr>
            </a:p>
          </p:txBody>
        </p:sp>
        <p:cxnSp>
          <p:nvCxnSpPr>
            <p:cNvPr id="57" name="직선 화살표 연결선 56"/>
            <p:cNvCxnSpPr>
              <a:stCxn id="40" idx="2"/>
              <a:endCxn id="56" idx="0"/>
            </p:cNvCxnSpPr>
            <p:nvPr/>
          </p:nvCxnSpPr>
          <p:spPr>
            <a:xfrm>
              <a:off x="3205620" y="4532748"/>
              <a:ext cx="11802" cy="4199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/>
            <p:cNvSpPr txBox="1"/>
            <p:nvPr/>
          </p:nvSpPr>
          <p:spPr>
            <a:xfrm>
              <a:off x="5766892" y="3994000"/>
              <a:ext cx="1150856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 smtClean="0">
                  <a:latin typeface="Calibri (본문)"/>
                </a:rPr>
                <a:t>Forward kinematics</a:t>
              </a:r>
              <a:endParaRPr lang="ko-KR" altLang="en-US" sz="1400" dirty="0">
                <a:latin typeface="Calibri (본문)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2868129" y="4689819"/>
                  <a:ext cx="319575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ko-KR" altLang="en-US" sz="14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ko-KR" altLang="en-US" sz="1400" dirty="0">
                    <a:latin typeface="Calibri (본문)"/>
                  </a:endParaRPr>
                </a:p>
              </p:txBody>
            </p:sp>
          </mc:Choice>
          <mc:Fallback xmlns="">
            <p:sp>
              <p:nvSpPr>
                <p:cNvPr id="59" name="TextBox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8129" y="4689819"/>
                  <a:ext cx="319575" cy="215444"/>
                </a:xfrm>
                <a:prstGeom prst="rect">
                  <a:avLst/>
                </a:prstGeom>
                <a:blipFill>
                  <a:blip r:embed="rId6"/>
                  <a:stretch>
                    <a:fillRect l="-15094" r="-1887" b="-3714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꺾인 연결선 59"/>
            <p:cNvCxnSpPr>
              <a:stCxn id="54" idx="2"/>
              <a:endCxn id="56" idx="3"/>
            </p:cNvCxnSpPr>
            <p:nvPr/>
          </p:nvCxnSpPr>
          <p:spPr>
            <a:xfrm rot="5400000">
              <a:off x="4078386" y="4063531"/>
              <a:ext cx="572435" cy="1513761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/>
            <p:cNvCxnSpPr>
              <a:stCxn id="54" idx="3"/>
              <a:endCxn id="58" idx="1"/>
            </p:cNvCxnSpPr>
            <p:nvPr/>
          </p:nvCxnSpPr>
          <p:spPr>
            <a:xfrm>
              <a:off x="5395468" y="4251649"/>
              <a:ext cx="371424" cy="396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64"/>
            <p:cNvCxnSpPr>
              <a:stCxn id="58" idx="3"/>
            </p:cNvCxnSpPr>
            <p:nvPr/>
          </p:nvCxnSpPr>
          <p:spPr>
            <a:xfrm>
              <a:off x="6917748" y="4255610"/>
              <a:ext cx="580962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꺾인 연결선 66"/>
            <p:cNvCxnSpPr>
              <a:stCxn id="56" idx="1"/>
              <a:endCxn id="12" idx="2"/>
            </p:cNvCxnSpPr>
            <p:nvPr/>
          </p:nvCxnSpPr>
          <p:spPr>
            <a:xfrm rot="10800000">
              <a:off x="1980006" y="4517569"/>
              <a:ext cx="847116" cy="589061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/>
                <p:cNvSpPr txBox="1"/>
                <p:nvPr/>
              </p:nvSpPr>
              <p:spPr>
                <a:xfrm>
                  <a:off x="7137408" y="3969103"/>
                  <a:ext cx="16408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ko-KR" altLang="en-US" sz="1400" dirty="0">
                    <a:latin typeface="Calibri (본문)"/>
                  </a:endParaRPr>
                </a:p>
              </p:txBody>
            </p:sp>
          </mc:Choice>
          <mc:Fallback xmlns="">
            <p:sp>
              <p:nvSpPr>
                <p:cNvPr id="86" name="Text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7408" y="3969103"/>
                  <a:ext cx="164084" cy="215444"/>
                </a:xfrm>
                <a:prstGeom prst="rect">
                  <a:avLst/>
                </a:prstGeom>
                <a:blipFill>
                  <a:blip r:embed="rId7"/>
                  <a:stretch>
                    <a:fillRect l="-22222" r="-14815" b="-2777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/>
                <p:cNvSpPr txBox="1"/>
                <p:nvPr/>
              </p:nvSpPr>
              <p:spPr>
                <a:xfrm>
                  <a:off x="5535825" y="3988498"/>
                  <a:ext cx="164148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ko-KR" altLang="en-US" sz="1400" dirty="0">
                    <a:latin typeface="Calibri (본문)"/>
                  </a:endParaRPr>
                </a:p>
              </p:txBody>
            </p:sp>
          </mc:Choice>
          <mc:Fallback xmlns="">
            <p:sp>
              <p:nvSpPr>
                <p:cNvPr id="87" name="TextBox 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5825" y="3988498"/>
                  <a:ext cx="164148" cy="215444"/>
                </a:xfrm>
                <a:prstGeom prst="rect">
                  <a:avLst/>
                </a:prstGeom>
                <a:blipFill>
                  <a:blip r:embed="rId8"/>
                  <a:stretch>
                    <a:fillRect l="-18519" r="-18519" b="-2857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직사각형 89"/>
              <p:cNvSpPr/>
              <p:nvPr/>
            </p:nvSpPr>
            <p:spPr>
              <a:xfrm>
                <a:off x="353479" y="1102459"/>
                <a:ext cx="219803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>
                    <a:latin typeface="Calibri (본문)"/>
                  </a:rPr>
                  <a:t>Dynamic equation</a:t>
                </a:r>
              </a:p>
            </p:txBody>
          </p:sp>
        </mc:Choice>
        <mc:Fallback xmlns="">
          <p:sp>
            <p:nvSpPr>
              <p:cNvPr id="90" name="직사각형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9" y="1102459"/>
                <a:ext cx="2198038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TextBox 90"/>
          <p:cNvSpPr txBox="1"/>
          <p:nvPr/>
        </p:nvSpPr>
        <p:spPr>
          <a:xfrm>
            <a:off x="3569523" y="3802510"/>
            <a:ext cx="11518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Calibri (본문)"/>
              </a:rPr>
              <a:t>Motor drive</a:t>
            </a:r>
            <a:endParaRPr lang="ko-KR" altLang="en-US" sz="1400" dirty="0">
              <a:latin typeface="Calibri (본문)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2531651" y="4310851"/>
                <a:ext cx="169662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ko-KR" altLang="en-US" sz="1400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1651" y="4310851"/>
                <a:ext cx="169662" cy="215444"/>
              </a:xfrm>
              <a:prstGeom prst="rect">
                <a:avLst/>
              </a:prstGeom>
              <a:blipFill>
                <a:blip r:embed="rId10"/>
                <a:stretch>
                  <a:fillRect l="-7143" r="-7143" b="-27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8455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F0FB3AA-859D-4B84-BDDE-86F6AD55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</p:spPr>
        <p:txBody>
          <a:bodyPr/>
          <a:lstStyle/>
          <a:p>
            <a:r>
              <a:rPr lang="en-US" altLang="ko-KR" dirty="0" smtClean="0">
                <a:latin typeface="+mn-lt"/>
              </a:rPr>
              <a:t>Direct Force Control</a:t>
            </a:r>
            <a:endParaRPr lang="ko-KR" alt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353479" y="1238821"/>
                <a:ext cx="6504521" cy="46833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acc>
                        <m:accPr>
                          <m:chr m:val="̈"/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lang="en-US" altLang="ko-K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acc>
                        <m:accPr>
                          <m:chr m:val="̇"/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 , 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̇"/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̈"/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altLang="ko-KR" sz="1600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9" y="1238821"/>
                <a:ext cx="6504521" cy="4683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/>
              <p:cNvSpPr/>
              <p:nvPr/>
            </p:nvSpPr>
            <p:spPr>
              <a:xfrm>
                <a:off x="353478" y="4256382"/>
                <a:ext cx="18229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Block diagram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10" name="직사각형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8" y="4256382"/>
                <a:ext cx="1822935" cy="461665"/>
              </a:xfrm>
              <a:prstGeom prst="rect">
                <a:avLst/>
              </a:prstGeom>
              <a:blipFill>
                <a:blip r:embed="rId3"/>
                <a:stretch>
                  <a:fillRect r="-334"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80154" y="5010073"/>
                <a:ext cx="2342613" cy="70410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 smtClean="0">
                    <a:latin typeface="Calibri (본문)"/>
                  </a:rPr>
                  <a:t>Torque controller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8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ko-KR" sz="8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8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ko-KR" sz="8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ko-KR" altLang="en-US" sz="800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54" y="5010073"/>
                <a:ext cx="2342613" cy="704104"/>
              </a:xfrm>
              <a:prstGeom prst="rect">
                <a:avLst/>
              </a:prstGeom>
              <a:blipFill>
                <a:blip r:embed="rId4"/>
                <a:stretch>
                  <a:fillRect t="-27350" b="-8888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633501" y="4881544"/>
                <a:ext cx="3781102" cy="95474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 smtClean="0">
                    <a:latin typeface="Calibri (본문)"/>
                  </a:rPr>
                  <a:t>Robot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d>
                                      <m:d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</m:acc>
                                      </m:e>
                                    </m:d>
                                    <m:acc>
                                      <m:accPr>
                                        <m:chr m:val="̇"/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acc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d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</m:e>
                                      <m:sup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sSub>
                                      <m:sSub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sz="1400" dirty="0" smtClean="0">
                  <a:latin typeface="Calibri (본문)"/>
                </a:endParaRPr>
              </a:p>
              <a:p>
                <a:pPr algn="ctr"/>
                <a:endParaRPr lang="ko-KR" altLang="en-US" sz="1400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3501" y="4881544"/>
                <a:ext cx="3781102" cy="954749"/>
              </a:xfrm>
              <a:prstGeom prst="rect">
                <a:avLst/>
              </a:prstGeom>
              <a:blipFill>
                <a:blip r:embed="rId5"/>
                <a:stretch>
                  <a:fillRect t="-6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직선 화살표 연결선 18"/>
          <p:cNvCxnSpPr>
            <a:stCxn id="12" idx="3"/>
            <a:endCxn id="40" idx="1"/>
          </p:cNvCxnSpPr>
          <p:nvPr/>
        </p:nvCxnSpPr>
        <p:spPr>
          <a:xfrm flipV="1">
            <a:off x="3022767" y="5358919"/>
            <a:ext cx="610734" cy="32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7905737" y="5073597"/>
                <a:ext cx="547971" cy="56509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ko-KR" alt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̇"/>
                              <m:ctrlPr>
                                <a:rPr lang="en-US" altLang="ko-KR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brk/>
                                </m:r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nary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ko-KR" altLang="en-US" sz="1400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737" y="5073597"/>
                <a:ext cx="547971" cy="5650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/>
          <p:cNvSpPr txBox="1"/>
          <p:nvPr/>
        </p:nvSpPr>
        <p:spPr>
          <a:xfrm>
            <a:off x="2835435" y="6266152"/>
            <a:ext cx="79722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Calibri (본문)"/>
              </a:rPr>
              <a:t>Sensor</a:t>
            </a:r>
            <a:endParaRPr lang="ko-KR" altLang="en-US" sz="1400" dirty="0">
              <a:latin typeface="Calibri (본문)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2280609" y="6178404"/>
                <a:ext cx="20415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0609" y="6178404"/>
                <a:ext cx="204158" cy="215444"/>
              </a:xfrm>
              <a:prstGeom prst="rect">
                <a:avLst/>
              </a:prstGeom>
              <a:blipFill>
                <a:blip r:embed="rId7"/>
                <a:stretch>
                  <a:fillRect l="-23529" r="-2941" b="-3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직선 화살표 연결선 61"/>
          <p:cNvCxnSpPr>
            <a:stCxn id="40" idx="3"/>
            <a:endCxn id="54" idx="1"/>
          </p:cNvCxnSpPr>
          <p:nvPr/>
        </p:nvCxnSpPr>
        <p:spPr>
          <a:xfrm flipV="1">
            <a:off x="7414603" y="5356143"/>
            <a:ext cx="491134" cy="27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56" idx="1"/>
            <a:endCxn id="12" idx="2"/>
          </p:cNvCxnSpPr>
          <p:nvPr/>
        </p:nvCxnSpPr>
        <p:spPr>
          <a:xfrm rot="10800000">
            <a:off x="1851461" y="5714177"/>
            <a:ext cx="983974" cy="70586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8592262" y="5093052"/>
                <a:ext cx="164148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sz="1400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2262" y="5093052"/>
                <a:ext cx="164148" cy="215444"/>
              </a:xfrm>
              <a:prstGeom prst="rect">
                <a:avLst/>
              </a:prstGeom>
              <a:blipFill>
                <a:blip r:embed="rId8"/>
                <a:stretch>
                  <a:fillRect l="-7407" r="-3704" b="-27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직사각형 89"/>
              <p:cNvSpPr/>
              <p:nvPr/>
            </p:nvSpPr>
            <p:spPr>
              <a:xfrm>
                <a:off x="353479" y="711753"/>
                <a:ext cx="219803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>
                    <a:latin typeface="Calibri (본문)"/>
                  </a:rPr>
                  <a:t>Dynamic equation</a:t>
                </a:r>
              </a:p>
            </p:txBody>
          </p:sp>
        </mc:Choice>
        <mc:Fallback xmlns="">
          <p:sp>
            <p:nvSpPr>
              <p:cNvPr id="90" name="직사각형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9" y="711753"/>
                <a:ext cx="2198038" cy="461665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3234048" y="5128734"/>
                <a:ext cx="169662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ko-KR" altLang="en-US" sz="1400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048" y="5128734"/>
                <a:ext cx="169662" cy="215444"/>
              </a:xfrm>
              <a:prstGeom prst="rect">
                <a:avLst/>
              </a:prstGeom>
              <a:blipFill>
                <a:blip r:embed="rId10"/>
                <a:stretch>
                  <a:fillRect l="-11111" r="-7407" b="-27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/>
              <p:cNvSpPr/>
              <p:nvPr/>
            </p:nvSpPr>
            <p:spPr>
              <a:xfrm>
                <a:off x="350914" y="2506656"/>
                <a:ext cx="7963593" cy="1281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ko-KR" sz="1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acc>
                        <m:accPr>
                          <m:chr m:val="̈"/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acc>
                        <m:accPr>
                          <m:chr m:val="̇"/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altLang="ko-KR" sz="1600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2" name="직사각형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914" y="2506656"/>
                <a:ext cx="7963593" cy="12814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/>
              <p:cNvSpPr/>
              <p:nvPr/>
            </p:nvSpPr>
            <p:spPr>
              <a:xfrm>
                <a:off x="541089" y="3672370"/>
                <a:ext cx="5879974" cy="5209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=0 (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≻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≻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0)</m:t>
                      </m:r>
                    </m:oMath>
                  </m:oMathPara>
                </a14:m>
                <a:endParaRPr lang="en-US" altLang="ko-KR" sz="1600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7" name="직사각형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89" y="3672370"/>
                <a:ext cx="5879974" cy="52091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꺾인 연결선 40"/>
          <p:cNvCxnSpPr>
            <a:stCxn id="40" idx="2"/>
            <a:endCxn id="56" idx="3"/>
          </p:cNvCxnSpPr>
          <p:nvPr/>
        </p:nvCxnSpPr>
        <p:spPr>
          <a:xfrm rot="5400000">
            <a:off x="4286483" y="5182472"/>
            <a:ext cx="583748" cy="189139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>
            <a:stCxn id="54" idx="3"/>
          </p:cNvCxnSpPr>
          <p:nvPr/>
        </p:nvCxnSpPr>
        <p:spPr>
          <a:xfrm flipV="1">
            <a:off x="8453708" y="5356142"/>
            <a:ext cx="49113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직사각형 50"/>
              <p:cNvSpPr/>
              <p:nvPr/>
            </p:nvSpPr>
            <p:spPr>
              <a:xfrm>
                <a:off x="350914" y="1759345"/>
                <a:ext cx="4401205" cy="4147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 smtClean="0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Feedback linearization in the Joint space</a:t>
                </a:r>
              </a:p>
            </p:txBody>
          </p:sp>
        </mc:Choice>
        <mc:Fallback xmlns="">
          <p:sp>
            <p:nvSpPr>
              <p:cNvPr id="51" name="직사각형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914" y="1759345"/>
                <a:ext cx="4401205" cy="414729"/>
              </a:xfrm>
              <a:prstGeom prst="rect">
                <a:avLst/>
              </a:prstGeom>
              <a:blipFill>
                <a:blip r:embed="rId13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직사각형 26"/>
              <p:cNvSpPr/>
              <p:nvPr/>
            </p:nvSpPr>
            <p:spPr>
              <a:xfrm>
                <a:off x="736767" y="2220983"/>
                <a:ext cx="4572000" cy="46166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acc>
                        <m:accPr>
                          <m:chr m:val="̇"/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acc>
                        <m:accPr>
                          <m:chr m:val="̈"/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27" name="직사각형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767" y="2220983"/>
                <a:ext cx="4572000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직사각형 52"/>
              <p:cNvSpPr/>
              <p:nvPr/>
            </p:nvSpPr>
            <p:spPr>
              <a:xfrm>
                <a:off x="350914" y="2673162"/>
                <a:ext cx="1544590" cy="4147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 smtClean="0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Control law</a:t>
                </a:r>
              </a:p>
            </p:txBody>
          </p:sp>
        </mc:Choice>
        <mc:Fallback xmlns="">
          <p:sp>
            <p:nvSpPr>
              <p:cNvPr id="53" name="직사각형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914" y="2673162"/>
                <a:ext cx="1544590" cy="414729"/>
              </a:xfrm>
              <a:prstGeom prst="rect">
                <a:avLst/>
              </a:prstGeom>
              <a:blipFill>
                <a:blip r:embed="rId15"/>
                <a:stretch>
                  <a:fillRect r="-791"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직선 화살표 연결선 60"/>
          <p:cNvCxnSpPr>
            <a:endCxn id="12" idx="1"/>
          </p:cNvCxnSpPr>
          <p:nvPr/>
        </p:nvCxnSpPr>
        <p:spPr>
          <a:xfrm>
            <a:off x="136426" y="5356144"/>
            <a:ext cx="543728" cy="59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221826" y="5108830"/>
                <a:ext cx="22884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26" y="5108830"/>
                <a:ext cx="228844" cy="215444"/>
              </a:xfrm>
              <a:prstGeom prst="rect">
                <a:avLst/>
              </a:prstGeom>
              <a:blipFill>
                <a:blip r:embed="rId16"/>
                <a:stretch>
                  <a:fillRect l="-21053" b="-4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7991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F0FB3AA-859D-4B84-BDDE-86F6AD55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</p:spPr>
        <p:txBody>
          <a:bodyPr/>
          <a:lstStyle/>
          <a:p>
            <a:r>
              <a:rPr lang="en-US" altLang="ko-KR" dirty="0" smtClean="0">
                <a:latin typeface="+mn-lt"/>
              </a:rPr>
              <a:t>Direct Force Control</a:t>
            </a:r>
            <a:endParaRPr lang="ko-KR" alt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직사각형 89"/>
              <p:cNvSpPr/>
              <p:nvPr/>
            </p:nvSpPr>
            <p:spPr>
              <a:xfrm>
                <a:off x="353478" y="1106377"/>
                <a:ext cx="207518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Simulation result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90" name="직사각형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8" y="1106377"/>
                <a:ext cx="2075183" cy="461665"/>
              </a:xfrm>
              <a:prstGeom prst="rect">
                <a:avLst/>
              </a:prstGeom>
              <a:blipFill>
                <a:blip r:embed="rId2"/>
                <a:stretch>
                  <a:fillRect r="-294"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139" y="1383974"/>
            <a:ext cx="2262137" cy="16966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675057" y="1568042"/>
                <a:ext cx="4379082" cy="142250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b="0" dirty="0" smtClean="0"/>
                  <a:t>Initial angles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f>
                                    <m:f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ko-KR" altLang="en-US" sz="16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  <m:e>
                                  <m:f>
                                    <m:f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ko-KR" altLang="en-US" sz="16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ko-KR" sz="1600" b="0" dirty="0" smtClean="0"/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Desired </a:t>
                </a:r>
                <a:r>
                  <a:rPr lang="en-US" altLang="ko-KR" sz="1600" dirty="0" smtClean="0"/>
                  <a:t>moment </a:t>
                </a:r>
                <a:r>
                  <a:rPr lang="en-US" altLang="ko-KR" sz="16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ko-KR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e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ko-KR" sz="1600" b="0" dirty="0" smtClean="0"/>
                  <a:t> 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=10,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altLang="ko-KR" sz="1600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057" y="1568042"/>
                <a:ext cx="4379082" cy="1422505"/>
              </a:xfrm>
              <a:prstGeom prst="rect">
                <a:avLst/>
              </a:prstGeom>
              <a:blipFill>
                <a:blip r:embed="rId4"/>
                <a:stretch>
                  <a:fillRect l="-557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136" y="3322363"/>
            <a:ext cx="3643195" cy="2732395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1391069" y="6165334"/>
            <a:ext cx="27651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Jacobian in {E.E} coordinate</a:t>
            </a:r>
            <a:endParaRPr lang="ko-KR" altLang="en-US" dirty="0"/>
          </a:p>
        </p:txBody>
      </p:sp>
      <p:sp>
        <p:nvSpPr>
          <p:cNvPr id="27" name="직사각형 26"/>
          <p:cNvSpPr/>
          <p:nvPr/>
        </p:nvSpPr>
        <p:spPr>
          <a:xfrm>
            <a:off x="5615936" y="6165334"/>
            <a:ext cx="29206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Jacobian in {base} coordinate</a:t>
            </a:r>
            <a:endParaRPr lang="ko-KR" altLang="en-US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1114" y="3322362"/>
            <a:ext cx="3643195" cy="273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204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F0FB3AA-859D-4B84-BDDE-86F6AD55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</p:spPr>
        <p:txBody>
          <a:bodyPr/>
          <a:lstStyle/>
          <a:p>
            <a:r>
              <a:rPr lang="en-US" altLang="ko-KR" dirty="0" smtClean="0">
                <a:latin typeface="+mn-lt"/>
              </a:rPr>
              <a:t>Indirect Force Control</a:t>
            </a:r>
            <a:endParaRPr lang="ko-KR" alt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353479" y="1629527"/>
                <a:ext cx="7327481" cy="4977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acc>
                        <m:accPr>
                          <m:chr m:val="̈"/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lang="en-US" altLang="ko-K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acc>
                        <m:accPr>
                          <m:chr m:val="̇"/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 , 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̇"/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̈"/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altLang="ko-KR" sz="1600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9" y="1629527"/>
                <a:ext cx="7327481" cy="4977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직사각형 89"/>
              <p:cNvSpPr/>
              <p:nvPr/>
            </p:nvSpPr>
            <p:spPr>
              <a:xfrm>
                <a:off x="353478" y="1106377"/>
                <a:ext cx="37703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en-US" altLang="ko-KR" sz="1600" b="1" dirty="0" smtClean="0">
                    <a:latin typeface="Calibri (본문)"/>
                  </a:rPr>
                  <a:t> Cartesian space dynamic equation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90" name="직사각형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8" y="1106377"/>
                <a:ext cx="3770328" cy="461665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577798" y="2250956"/>
                <a:ext cx="6504521" cy="209288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3×3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3×3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3×3</m:t>
                                    </m:r>
                                  </m:sub>
                                </m:sSub>
                              </m:e>
                              <m:e>
                                <m:sSup>
                                  <m:sSup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(∅)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sz="1600" b="0" i="1" dirty="0" smtClean="0">
                  <a:latin typeface="Cambria Math" panose="02040503050406030204" pitchFamily="18" charset="0"/>
                </a:endParaRPr>
              </a:p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sSubSup>
                        <m:sSubSup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altLang="ko-KR" sz="1600" dirty="0" smtClean="0">
                  <a:latin typeface="Calibri (본문)"/>
                </a:endParaRPr>
              </a:p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sSubSup>
                        <m:sSubSup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ko-K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altLang="ko-KR" sz="1600" dirty="0">
                  <a:latin typeface="Calibri (본문)"/>
                </a:endParaRPr>
              </a:p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altLang="ko-KR" sz="1600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798" y="2250956"/>
                <a:ext cx="6504521" cy="20928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/>
              <p:cNvSpPr/>
              <p:nvPr/>
            </p:nvSpPr>
            <p:spPr>
              <a:xfrm>
                <a:off x="773641" y="2171118"/>
                <a:ext cx="64825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𝑖𝑡h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9" name="직사각형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641" y="2171118"/>
                <a:ext cx="648254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/>
              <p:cNvSpPr/>
              <p:nvPr/>
            </p:nvSpPr>
            <p:spPr>
              <a:xfrm>
                <a:off x="353478" y="4417862"/>
                <a:ext cx="483459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en-US" altLang="ko-KR" sz="1600" b="1" dirty="0" smtClean="0">
                    <a:latin typeface="Calibri (본문)"/>
                  </a:rPr>
                  <a:t> Feedback linearization in the Cartesian space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26" name="직사각형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8" y="4417862"/>
                <a:ext cx="4834593" cy="461665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438465" y="4953552"/>
                <a:ext cx="6504521" cy="51661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d>
                        <m:d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̇"/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</m:d>
                          <m:acc>
                            <m:accPr>
                              <m:chr m:val="̇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̈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altLang="ko-KR" sz="1600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65" y="4953552"/>
                <a:ext cx="6504521" cy="5166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737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F0FB3AA-859D-4B84-BDDE-86F6AD55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</p:spPr>
        <p:txBody>
          <a:bodyPr/>
          <a:lstStyle/>
          <a:p>
            <a:r>
              <a:rPr lang="en-US" altLang="ko-KR" dirty="0" smtClean="0">
                <a:latin typeface="+mn-lt"/>
              </a:rPr>
              <a:t>Indirect Force Control</a:t>
            </a:r>
            <a:endParaRPr lang="ko-KR" alt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28821" y="4913917"/>
                <a:ext cx="2237829" cy="5723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 smtClean="0">
                    <a:latin typeface="Calibri (본문)"/>
                  </a:rPr>
                  <a:t>Torque controller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altLang="ko-KR" sz="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8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800" i="1" dirty="0" smtClean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d>
                        <m:d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d>
                        <m:d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̇"/>
                                  <m:ctrlP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</m:d>
                          <m:acc>
                            <m:accPr>
                              <m:chr m:val="̇"/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800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21" y="4913917"/>
                <a:ext cx="2237829" cy="572336"/>
              </a:xfrm>
              <a:prstGeom prst="rect">
                <a:avLst/>
              </a:prstGeom>
              <a:blipFill>
                <a:blip r:embed="rId2"/>
                <a:stretch>
                  <a:fillRect t="-104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633501" y="4726478"/>
                <a:ext cx="3781102" cy="95474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 smtClean="0">
                    <a:latin typeface="Calibri (본문)"/>
                  </a:rPr>
                  <a:t>Robot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d>
                                      <m:d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</m:acc>
                                      </m:e>
                                    </m:d>
                                    <m:acc>
                                      <m:accPr>
                                        <m:chr m:val="̇"/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acc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d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</m:e>
                                      <m:sup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sSub>
                                      <m:sSub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sz="1400" dirty="0" smtClean="0">
                  <a:latin typeface="Calibri (본문)"/>
                </a:endParaRPr>
              </a:p>
              <a:p>
                <a:pPr algn="ctr"/>
                <a:endParaRPr lang="ko-KR" altLang="en-US" sz="1400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3501" y="4726478"/>
                <a:ext cx="3781102" cy="9547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직선 화살표 연결선 18"/>
          <p:cNvCxnSpPr>
            <a:stCxn id="12" idx="3"/>
            <a:endCxn id="40" idx="1"/>
          </p:cNvCxnSpPr>
          <p:nvPr/>
        </p:nvCxnSpPr>
        <p:spPr>
          <a:xfrm>
            <a:off x="2966650" y="5200085"/>
            <a:ext cx="666851" cy="37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7905737" y="4918531"/>
                <a:ext cx="547971" cy="56509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ko-KR" alt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̇"/>
                              <m:ctrlPr>
                                <a:rPr lang="en-US" altLang="ko-KR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brk/>
                                </m:r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nary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ko-KR" altLang="en-US" sz="1400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737" y="4918531"/>
                <a:ext cx="547971" cy="5650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/>
          <p:cNvSpPr txBox="1"/>
          <p:nvPr/>
        </p:nvSpPr>
        <p:spPr>
          <a:xfrm>
            <a:off x="2835435" y="6111086"/>
            <a:ext cx="79722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>
                <a:latin typeface="Calibri (본문)"/>
              </a:rPr>
              <a:t>Sensor</a:t>
            </a:r>
            <a:endParaRPr lang="ko-KR" altLang="en-US" sz="1400" dirty="0">
              <a:latin typeface="Calibri (본문)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1898253" y="5812599"/>
                <a:ext cx="282314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 sz="1400" dirty="0" smtClean="0">
                    <a:latin typeface="Calibri (본문)"/>
                  </a:rPr>
                  <a:t> </a:t>
                </a:r>
                <a:r>
                  <a:rPr lang="en-US" altLang="ko-KR" sz="1400" dirty="0" smtClean="0">
                    <a:latin typeface="Calibri (본문)"/>
                  </a:rPr>
                  <a:t>&lt;or&gt; no contact force feedback</a:t>
                </a:r>
                <a:endParaRPr lang="ko-KR" altLang="en-US" sz="1400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253" y="5812599"/>
                <a:ext cx="2823145" cy="215444"/>
              </a:xfrm>
              <a:prstGeom prst="rect">
                <a:avLst/>
              </a:prstGeom>
              <a:blipFill>
                <a:blip r:embed="rId5"/>
                <a:stretch>
                  <a:fillRect l="-2802" t="-28571" r="-2802" b="-5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직선 화살표 연결선 61"/>
          <p:cNvCxnSpPr>
            <a:stCxn id="40" idx="3"/>
            <a:endCxn id="54" idx="1"/>
          </p:cNvCxnSpPr>
          <p:nvPr/>
        </p:nvCxnSpPr>
        <p:spPr>
          <a:xfrm flipV="1">
            <a:off x="7414603" y="5201077"/>
            <a:ext cx="491134" cy="27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56" idx="1"/>
            <a:endCxn id="12" idx="2"/>
          </p:cNvCxnSpPr>
          <p:nvPr/>
        </p:nvCxnSpPr>
        <p:spPr>
          <a:xfrm rot="10800000">
            <a:off x="1851461" y="5559111"/>
            <a:ext cx="983974" cy="705864"/>
          </a:xfrm>
          <a:prstGeom prst="bentConnector2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8592262" y="4937986"/>
                <a:ext cx="164148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sz="1400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2262" y="4937986"/>
                <a:ext cx="164148" cy="215444"/>
              </a:xfrm>
              <a:prstGeom prst="rect">
                <a:avLst/>
              </a:prstGeom>
              <a:blipFill>
                <a:blip r:embed="rId6"/>
                <a:stretch>
                  <a:fillRect l="-7407" r="-3704" b="-5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직사각형 89"/>
              <p:cNvSpPr/>
              <p:nvPr/>
            </p:nvSpPr>
            <p:spPr>
              <a:xfrm>
                <a:off x="353663" y="787563"/>
                <a:ext cx="154459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en-US" altLang="ko-KR" sz="1600" b="1" dirty="0" smtClean="0">
                    <a:latin typeface="Calibri (본문)"/>
                  </a:rPr>
                  <a:t> Control law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90" name="직사각형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63" y="787563"/>
                <a:ext cx="1544590" cy="461665"/>
              </a:xfrm>
              <a:prstGeom prst="rect">
                <a:avLst/>
              </a:prstGeom>
              <a:blipFill>
                <a:blip r:embed="rId7"/>
                <a:stretch>
                  <a:fillRect r="-1186"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3028653" y="4971500"/>
                <a:ext cx="505651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̈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ko-KR" altLang="en-US" sz="1400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8653" y="4971500"/>
                <a:ext cx="505651" cy="215444"/>
              </a:xfrm>
              <a:prstGeom prst="rect">
                <a:avLst/>
              </a:prstGeom>
              <a:blipFill>
                <a:blip r:embed="rId8"/>
                <a:stretch>
                  <a:fillRect l="-3614" r="-45783" b="-285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꺾인 연결선 40"/>
          <p:cNvCxnSpPr>
            <a:stCxn id="40" idx="2"/>
            <a:endCxn id="56" idx="3"/>
          </p:cNvCxnSpPr>
          <p:nvPr/>
        </p:nvCxnSpPr>
        <p:spPr>
          <a:xfrm rot="5400000">
            <a:off x="4286483" y="5027406"/>
            <a:ext cx="583748" cy="189139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>
            <a:stCxn id="54" idx="3"/>
          </p:cNvCxnSpPr>
          <p:nvPr/>
        </p:nvCxnSpPr>
        <p:spPr>
          <a:xfrm flipV="1">
            <a:off x="8453708" y="5201076"/>
            <a:ext cx="49113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/>
              <p:cNvSpPr/>
              <p:nvPr/>
            </p:nvSpPr>
            <p:spPr>
              <a:xfrm>
                <a:off x="353479" y="4279377"/>
                <a:ext cx="1822935" cy="4147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en-US" altLang="ko-KR" sz="1600" b="1" dirty="0" smtClean="0">
                    <a:latin typeface="Calibri (본문)"/>
                  </a:rPr>
                  <a:t> Block diagram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26" name="직사각형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9" y="4279377"/>
                <a:ext cx="1822935" cy="414729"/>
              </a:xfrm>
              <a:prstGeom prst="rect">
                <a:avLst/>
              </a:prstGeom>
              <a:blipFill>
                <a:blip r:embed="rId9"/>
                <a:stretch>
                  <a:fillRect r="-334"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380400" y="1219386"/>
                <a:ext cx="7525337" cy="51661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d>
                        <m:d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̇"/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</m:d>
                          <m:acc>
                            <m:accPr>
                              <m:chr m:val="̇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1600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00" y="1219386"/>
                <a:ext cx="7525337" cy="51661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직선 화살표 연결선 22"/>
          <p:cNvCxnSpPr/>
          <p:nvPr/>
        </p:nvCxnSpPr>
        <p:spPr>
          <a:xfrm flipH="1" flipV="1">
            <a:off x="2227811" y="2192468"/>
            <a:ext cx="8312" cy="2785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flipH="1" flipV="1">
            <a:off x="3519060" y="2192468"/>
            <a:ext cx="8312" cy="2785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 flipH="1" flipV="1">
            <a:off x="4785368" y="2178612"/>
            <a:ext cx="8312" cy="2785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726970" y="2521809"/>
                <a:ext cx="100168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latin typeface="Calibri (본문)"/>
                  </a:rPr>
                  <a:t>d</a:t>
                </a:r>
                <a:r>
                  <a:rPr lang="en-US" altLang="ko-KR" sz="1200" dirty="0" smtClean="0">
                    <a:latin typeface="Calibri (본문)"/>
                  </a:rPr>
                  <a:t>esired inertia (</a:t>
                </a:r>
                <a14:m>
                  <m:oMath xmlns:m="http://schemas.openxmlformats.org/officeDocument/2006/math">
                    <m:r>
                      <a:rPr lang="en-US" altLang="ko-KR" sz="1200" i="1">
                        <a:latin typeface="Cambria Math" panose="02040503050406030204" pitchFamily="18" charset="0"/>
                      </a:rPr>
                      <m:t>≻</m:t>
                    </m:r>
                  </m:oMath>
                </a14:m>
                <a:r>
                  <a:rPr lang="en-US" altLang="ko-KR" sz="1200" dirty="0" smtClean="0">
                    <a:latin typeface="Calibri (본문)"/>
                  </a:rPr>
                  <a:t> 0)</a:t>
                </a:r>
                <a:endParaRPr lang="ko-KR" altLang="en-US" sz="1200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970" y="2521809"/>
                <a:ext cx="1001681" cy="461665"/>
              </a:xfrm>
              <a:prstGeom prst="rect">
                <a:avLst/>
              </a:prstGeom>
              <a:blipFill>
                <a:blip r:embed="rId11"/>
                <a:stretch>
                  <a:fillRect t="-1333" r="-4242" b="-9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123130" y="2521340"/>
                <a:ext cx="80878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latin typeface="Calibri (본문)"/>
                  </a:rPr>
                  <a:t>d</a:t>
                </a:r>
                <a:r>
                  <a:rPr lang="en-US" altLang="ko-KR" sz="1200" dirty="0" smtClean="0">
                    <a:latin typeface="Calibri (본문)"/>
                  </a:rPr>
                  <a:t>esired damping (</a:t>
                </a:r>
                <a14:m>
                  <m:oMath xmlns:m="http://schemas.openxmlformats.org/officeDocument/2006/math">
                    <m:r>
                      <a:rPr lang="en-US" altLang="ko-KR" sz="1200" i="1">
                        <a:latin typeface="Cambria Math" panose="02040503050406030204" pitchFamily="18" charset="0"/>
                      </a:rPr>
                      <m:t>≽</m:t>
                    </m:r>
                  </m:oMath>
                </a14:m>
                <a:r>
                  <a:rPr lang="en-US" altLang="ko-KR" sz="1200" dirty="0" smtClean="0">
                    <a:latin typeface="Calibri (본문)"/>
                  </a:rPr>
                  <a:t> 0)</a:t>
                </a:r>
                <a:endParaRPr lang="ko-KR" altLang="en-US" sz="1200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130" y="2521340"/>
                <a:ext cx="808789" cy="646331"/>
              </a:xfrm>
              <a:prstGeom prst="rect">
                <a:avLst/>
              </a:prstGeom>
              <a:blipFill>
                <a:blip r:embed="rId12"/>
                <a:stretch>
                  <a:fillRect t="-943" r="-6015" b="-56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232397" y="2543987"/>
                <a:ext cx="11958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latin typeface="Calibri (본문)"/>
                  </a:rPr>
                  <a:t>d</a:t>
                </a:r>
                <a:r>
                  <a:rPr lang="en-US" altLang="ko-KR" sz="1200" dirty="0" smtClean="0">
                    <a:latin typeface="Calibri (본문)"/>
                  </a:rPr>
                  <a:t>esired stiffness (</a:t>
                </a:r>
                <a14:m>
                  <m:oMath xmlns:m="http://schemas.openxmlformats.org/officeDocument/2006/math">
                    <m:r>
                      <a:rPr lang="en-US" altLang="ko-KR" sz="1200" i="1">
                        <a:latin typeface="Cambria Math" panose="02040503050406030204" pitchFamily="18" charset="0"/>
                      </a:rPr>
                      <m:t>≻</m:t>
                    </m:r>
                  </m:oMath>
                </a14:m>
                <a:r>
                  <a:rPr lang="en-US" altLang="ko-KR" sz="1200" dirty="0" smtClean="0">
                    <a:latin typeface="Calibri (본문)"/>
                  </a:rPr>
                  <a:t> 0)</a:t>
                </a:r>
                <a:endParaRPr lang="ko-KR" altLang="en-US" sz="1200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2397" y="2543987"/>
                <a:ext cx="1195814" cy="461665"/>
              </a:xfrm>
              <a:prstGeom prst="rect">
                <a:avLst/>
              </a:prstGeom>
              <a:blipFill>
                <a:blip r:embed="rId13"/>
                <a:stretch>
                  <a:fillRect r="-5612" b="-92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직선 화살표 연결선 33"/>
          <p:cNvCxnSpPr>
            <a:stCxn id="35" idx="3"/>
            <a:endCxn id="12" idx="1"/>
          </p:cNvCxnSpPr>
          <p:nvPr/>
        </p:nvCxnSpPr>
        <p:spPr>
          <a:xfrm>
            <a:off x="442876" y="5197182"/>
            <a:ext cx="285945" cy="29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02526" y="4835253"/>
                <a:ext cx="340350" cy="861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altLang="ko-KR" sz="1400" dirty="0" smtClean="0">
                  <a:latin typeface="Calibri (본문)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ko-KR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latin typeface="Calibri (본문)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altLang="ko-KR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latin typeface="Calibri (본문)"/>
                </a:endParaRPr>
              </a:p>
              <a:p>
                <a:endParaRPr lang="ko-KR" altLang="en-US" sz="1400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26" y="4835253"/>
                <a:ext cx="340350" cy="861774"/>
              </a:xfrm>
              <a:prstGeom prst="rect">
                <a:avLst/>
              </a:prstGeom>
              <a:blipFill>
                <a:blip r:embed="rId14"/>
                <a:stretch>
                  <a:fillRect r="-303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/>
              <p:cNvSpPr/>
              <p:nvPr/>
            </p:nvSpPr>
            <p:spPr>
              <a:xfrm>
                <a:off x="372780" y="3209774"/>
                <a:ext cx="8211862" cy="859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200150" lvl="2" indent="-28575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̇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600" dirty="0">
                    <a:latin typeface="Calibri (본문)"/>
                  </a:rPr>
                  <a:t> : compliance control (impedance control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̈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1600" dirty="0">
                    <a:latin typeface="Calibri (본문)"/>
                  </a:rPr>
                  <a:t>)</a:t>
                </a:r>
              </a:p>
            </p:txBody>
          </p:sp>
        </mc:Choice>
        <mc:Fallback xmlns="">
          <p:sp>
            <p:nvSpPr>
              <p:cNvPr id="10" name="직사각형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80" y="3209774"/>
                <a:ext cx="8211862" cy="859466"/>
              </a:xfrm>
              <a:prstGeom prst="rect">
                <a:avLst/>
              </a:prstGeom>
              <a:blipFill>
                <a:blip r:embed="rId15"/>
                <a:stretch>
                  <a:fillRect r="-445" b="-14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/>
              <p:cNvSpPr/>
              <p:nvPr/>
            </p:nvSpPr>
            <p:spPr>
              <a:xfrm>
                <a:off x="372780" y="1806092"/>
                <a:ext cx="763524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200150" lvl="2" indent="-285750"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̈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̈"/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̇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dirty="0">
                    <a:latin typeface="Calibri (본문)"/>
                  </a:rPr>
                  <a:t> : impedance control</a:t>
                </a:r>
              </a:p>
            </p:txBody>
          </p:sp>
        </mc:Choice>
        <mc:Fallback xmlns="">
          <p:sp>
            <p:nvSpPr>
              <p:cNvPr id="11" name="직사각형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80" y="1806092"/>
                <a:ext cx="7635240" cy="461665"/>
              </a:xfrm>
              <a:prstGeom prst="rect">
                <a:avLst/>
              </a:prstGeom>
              <a:blipFill>
                <a:blip r:embed="rId16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8762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FB2EE3E3-BD0C-4EF5-814D-31BB02E1C6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132" y="1382422"/>
            <a:ext cx="7772400" cy="2387600"/>
          </a:xfrm>
        </p:spPr>
        <p:txBody>
          <a:bodyPr/>
          <a:lstStyle/>
          <a:p>
            <a:r>
              <a:rPr lang="en-US" altLang="ko-KR" sz="7200" dirty="0">
                <a:latin typeface="+mn-lt"/>
              </a:rPr>
              <a:t>Thank you</a:t>
            </a:r>
            <a:endParaRPr lang="ko-KR" altLang="en-US" sz="7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03030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V0I66vy.EWDO1ev4_h69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V0I66vy.EWDO1ev4_h69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V0I66vy.EWDO1ev4_h69Q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5367</TotalTime>
  <Words>233</Words>
  <Application>Microsoft Office PowerPoint</Application>
  <PresentationFormat>화면 슬라이드 쇼(4:3)</PresentationFormat>
  <Paragraphs>90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Calibri (본문)</vt:lpstr>
      <vt:lpstr>맑은 고딕</vt:lpstr>
      <vt:lpstr>Arial</vt:lpstr>
      <vt:lpstr>Calibri</vt:lpstr>
      <vt:lpstr>Cambria Math</vt:lpstr>
      <vt:lpstr>Times New Roman</vt:lpstr>
      <vt:lpstr>Wingdings</vt:lpstr>
      <vt:lpstr>Office 테마</vt:lpstr>
      <vt:lpstr>Robot Force Control</vt:lpstr>
      <vt:lpstr>Robot Dynamics</vt:lpstr>
      <vt:lpstr>Direct Force Control</vt:lpstr>
      <vt:lpstr>Direct Force Control</vt:lpstr>
      <vt:lpstr>Indirect Force Control</vt:lpstr>
      <vt:lpstr>Indirect Force Control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Geniuschw_송창우</dc:creator>
  <cp:lastModifiedBy>HANHWA</cp:lastModifiedBy>
  <cp:revision>279</cp:revision>
  <dcterms:created xsi:type="dcterms:W3CDTF">2017-03-09T08:42:38Z</dcterms:created>
  <dcterms:modified xsi:type="dcterms:W3CDTF">2023-12-04T00:19:48Z</dcterms:modified>
</cp:coreProperties>
</file>